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684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76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03A1A-9D68-427E-9B46-FE4439B5F33E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5AB88-AF82-4C57-90C0-E03C65684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3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018F-95AB-4188-B8ED-7CA1C50FD13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527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F5F8-32A9-3526-A780-3E4425BFD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0DF96-BE30-8FFF-6810-60B6C8638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9F88F-154D-B4F1-5D77-CF0BB1F6D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2C301-8BC2-8843-E615-2BF84E70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A3724-727D-2986-61AE-E597FE4E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4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0EB9-EAE7-6BBF-9014-9DD5DBF2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58D9-40D8-27CE-E077-9014BAD93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6EBC-A217-C9AD-3F3E-CC0F2AD2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CA001-5830-81A8-3CDA-09E377A89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5814A-70A2-6504-BE81-53F616DE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3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AA79-CE97-74A8-EF3F-AA3485C7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44175-3EF8-41CF-469D-6CED69BE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7D15E-FE68-1FD9-8D3C-29A5C707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9597E-EC56-75B0-D25B-98D0D2F6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74426-0653-4A13-5421-F27FF7AF8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10F2-DDC8-238D-085F-1612F016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9DE58-3082-315E-AE45-13AEC64DB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EC533-EEE2-6B6E-EDAC-DDADCF72D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1ED45-9C21-7591-63AD-53B99863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F5C81-8B79-0956-A7F2-921E6D4C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7D861-0415-8C1A-BC4A-500D5FBF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6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B1A2-3D6B-2AC8-A34D-00F137D5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C77F-56B3-0EE7-47BE-2E087B8E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B0250-3D92-D5E8-3B23-8641E0B79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0E616-CBD6-D7DE-3BB9-7C07CD567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C816C-2BA5-0DE7-71B0-F2F2D722F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6D0FB-03CC-0A41-7A7D-E1335B9A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3BA9F-3FAB-36CF-47EA-8CAB17736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FD345C-F82F-AAB8-A75E-0C62716B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5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4868-5B41-173C-0035-C9C91008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452B8-AB32-D66D-33A7-12FFD476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B4450-F12D-8781-9E7F-1B02154D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448E5-88AD-53F3-6B04-4A4D3D1B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4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5D0AE-9645-AF94-3D69-ECBBBCD0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4C834-1BDC-BE77-5FD8-E2FBA30A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E00CC-9454-9C7E-6D64-D6F49F5C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1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7DDE-1AB0-9D4F-7DA7-1E241FC5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06D3-B2A6-E367-9236-63CBEA21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BAB3E-243C-502A-F644-949B0D18D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BC35C-0BD9-02C2-9D49-AB38377E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DB120-4E09-3A17-8E1E-4738D92D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DAB87-8D21-7CF3-B5BF-2CCEA46E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9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B2D0-1337-CC22-91AD-9AA1378F9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BBB6E-2BF8-1CB3-C3B1-E7640EBD5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9F755-98BA-ECD6-724C-7C03FF4FD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73AA1-983C-9B88-DC03-1C5184D7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DEE44-01E9-E326-9007-D3C96BFF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9B0DD-43EA-9C71-A99E-1D36ED9B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0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2950-31F2-BDEF-B041-C26F0363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DB3DF-C446-5596-CFE3-54B43A6E4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6F4E8-A530-595D-1BC8-A3821FCE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5CE9-1CCC-111B-B68A-DC81867E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E9C2C-8E5E-13C8-9F29-8F326BD8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2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86DFC-B4AF-C8EE-6CAA-92C3B604B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678E8-C5CF-1C5E-37E5-BDDF097B2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7369C-C48B-74D0-8E70-9C2E6E80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B9D8-AE97-CC92-86E6-74869177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A351B-8F59-AAE8-C020-BC3AAC0C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FDAA6-476B-0881-0573-5EFEB306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A58E9-C638-F7DC-D743-4B9078C6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7F458-6272-FF4D-CF9A-2F56768B3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9FE28-E686-406A-A3FB-0B8AD43EAF8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AC7B4-C73D-84E6-1283-948F26AB8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FF0B1-20CC-CE00-C1EF-D652A403F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10244-D27B-494A-B965-9A0EF18E2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6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microsoft.com/office/2007/relationships/hdphoto" Target="../media/hdphoto1.wdp"/><Relationship Id="rId26" Type="http://schemas.openxmlformats.org/officeDocument/2006/relationships/image" Target="../media/image22.png"/><Relationship Id="rId3" Type="http://schemas.openxmlformats.org/officeDocument/2006/relationships/image" Target="../media/image1.svg"/><Relationship Id="rId21" Type="http://schemas.openxmlformats.org/officeDocument/2006/relationships/image" Target="../media/image18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microsoft.com/office/2007/relationships/hdphoto" Target="../media/hdphoto2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23" Type="http://schemas.openxmlformats.org/officeDocument/2006/relationships/image" Target="../media/image20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9.png"/><Relationship Id="rId2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2E4DC03A-DD01-AF59-7640-D44657B60020}"/>
              </a:ext>
            </a:extLst>
          </p:cNvPr>
          <p:cNvSpPr/>
          <p:nvPr/>
        </p:nvSpPr>
        <p:spPr>
          <a:xfrm>
            <a:off x="1016000" y="863600"/>
            <a:ext cx="10160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181818"/>
                </a:solidFill>
                <a:latin typeface="Arial"/>
                <a:cs typeface="Arial"/>
              </a:rPr>
              <a:t>Strengthening Global Market Expansion and Competitive Advantage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39AAEBB0-6963-0B15-35EF-E11BD9F63581}"/>
              </a:ext>
            </a:extLst>
          </p:cNvPr>
          <p:cNvSpPr/>
          <p:nvPr/>
        </p:nvSpPr>
        <p:spPr>
          <a:xfrm>
            <a:off x="254000" y="241300"/>
            <a:ext cx="558800" cy="431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>
            <a:noAutofit/>
          </a:bodyPr>
          <a:lstStyle/>
          <a:p>
            <a:pPr algn="l"/>
            <a:endParaRPr sz="2600" b="1">
              <a:solidFill>
                <a:srgbClr val="D20000"/>
              </a:solidFill>
              <a:latin typeface="Arial"/>
              <a:cs typeface="Arial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0E4658E-7134-ADAF-19A7-08E12F13CE12}"/>
              </a:ext>
            </a:extLst>
          </p:cNvPr>
          <p:cNvSpPr/>
          <p:nvPr/>
        </p:nvSpPr>
        <p:spPr>
          <a:xfrm>
            <a:off x="437573" y="169961"/>
            <a:ext cx="6350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D20000"/>
                </a:solidFill>
                <a:latin typeface="Arial"/>
                <a:cs typeface="Arial"/>
              </a:rPr>
              <a:t>02 </a:t>
            </a:r>
            <a:r>
              <a:rPr lang="en-US" sz="2000" b="1">
                <a:solidFill>
                  <a:srgbClr val="181818"/>
                </a:solidFill>
                <a:latin typeface="Arial"/>
                <a:cs typeface="Arial"/>
              </a:rPr>
              <a:t>Global Expansion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1609D3AA-C247-64BA-A1DE-3E5E6B489DB1}"/>
              </a:ext>
            </a:extLst>
          </p:cNvPr>
          <p:cNvSpPr/>
          <p:nvPr/>
        </p:nvSpPr>
        <p:spPr>
          <a:xfrm>
            <a:off x="450273" y="550961"/>
            <a:ext cx="6604000" cy="20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E6E6E"/>
                </a:solidFill>
                <a:latin typeface="Arial"/>
                <a:cs typeface="Arial"/>
              </a:rPr>
              <a:t>Go-to-Market Strategy   |   Network · Certifications · Exports · Impact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C3779849-C220-B651-2E39-02C47FE79C4E}"/>
              </a:ext>
            </a:extLst>
          </p:cNvPr>
          <p:cNvSpPr/>
          <p:nvPr/>
        </p:nvSpPr>
        <p:spPr>
          <a:xfrm>
            <a:off x="7743805" y="4314825"/>
            <a:ext cx="219095" cy="104415"/>
          </a:xfrm>
          <a:custGeom>
            <a:avLst/>
            <a:gdLst>
              <a:gd name="connsiteX0" fmla="*/ 219095 w 219095"/>
              <a:gd name="connsiteY0" fmla="*/ 95250 h 104415"/>
              <a:gd name="connsiteX1" fmla="*/ 123845 w 219095"/>
              <a:gd name="connsiteY1" fmla="*/ 95250 h 104415"/>
              <a:gd name="connsiteX2" fmla="*/ 20 w 219095"/>
              <a:gd name="connsiteY2" fmla="*/ 0 h 104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95" h="104415">
                <a:moveTo>
                  <a:pt x="219095" y="95250"/>
                </a:moveTo>
                <a:cubicBezTo>
                  <a:pt x="189726" y="103187"/>
                  <a:pt x="160357" y="111125"/>
                  <a:pt x="123845" y="95250"/>
                </a:cubicBezTo>
                <a:cubicBezTo>
                  <a:pt x="87332" y="79375"/>
                  <a:pt x="-1567" y="4762"/>
                  <a:pt x="20" y="0"/>
                </a:cubicBezTo>
              </a:path>
            </a:pathLst>
          </a:custGeom>
          <a:noFill/>
          <a:ln w="539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6210E833-0CBD-0BEB-6553-872E57D791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205" t="8492"/>
          <a:stretch>
            <a:fillRect/>
          </a:stretch>
        </p:blipFill>
        <p:spPr>
          <a:xfrm>
            <a:off x="5955628" y="3524852"/>
            <a:ext cx="2384737" cy="201083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102E52CB-D8E2-9BB8-DC6B-491971242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0974" t="67737" r="6751" b="10213"/>
          <a:stretch>
            <a:fillRect/>
          </a:stretch>
        </p:blipFill>
        <p:spPr>
          <a:xfrm>
            <a:off x="7527163" y="4826716"/>
            <a:ext cx="524637" cy="484549"/>
          </a:xfrm>
          <a:prstGeom prst="rect">
            <a:avLst/>
          </a:prstGeom>
        </p:spPr>
      </p:pic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FF954D85-B8B6-27EA-79E9-57A4088988E1}"/>
              </a:ext>
            </a:extLst>
          </p:cNvPr>
          <p:cNvSpPr/>
          <p:nvPr/>
        </p:nvSpPr>
        <p:spPr>
          <a:xfrm flipH="1">
            <a:off x="2166721" y="4582691"/>
            <a:ext cx="2470068" cy="569419"/>
          </a:xfrm>
          <a:custGeom>
            <a:avLst/>
            <a:gdLst>
              <a:gd name="connsiteX0" fmla="*/ 2470068 w 2470068"/>
              <a:gd name="connsiteY0" fmla="*/ 0 h 630362"/>
              <a:gd name="connsiteX1" fmla="*/ 1187533 w 2470068"/>
              <a:gd name="connsiteY1" fmla="*/ 629393 h 630362"/>
              <a:gd name="connsiteX2" fmla="*/ 0 w 2470068"/>
              <a:gd name="connsiteY2" fmla="*/ 142504 h 630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0068" h="630362">
                <a:moveTo>
                  <a:pt x="2470068" y="0"/>
                </a:moveTo>
                <a:cubicBezTo>
                  <a:pt x="2034639" y="302821"/>
                  <a:pt x="1599211" y="605642"/>
                  <a:pt x="1187533" y="629393"/>
                </a:cubicBezTo>
                <a:cubicBezTo>
                  <a:pt x="775855" y="653144"/>
                  <a:pt x="193964" y="233548"/>
                  <a:pt x="0" y="142504"/>
                </a:cubicBezTo>
              </a:path>
            </a:pathLst>
          </a:custGeom>
          <a:noFill/>
          <a:ln w="57150"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rgbClr val="5B9BD5"/>
                </a:gs>
              </a:gsLst>
              <a:lin ang="10800000" scaled="1"/>
              <a:tileRect/>
            </a:gra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래픽 24">
            <a:extLst>
              <a:ext uri="{FF2B5EF4-FFF2-40B4-BE49-F238E27FC236}">
                <a16:creationId xmlns:a16="http://schemas.microsoft.com/office/drawing/2014/main" id="{B6BD2458-C9F2-9A00-D703-5E2CB9A12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5086" b="45636"/>
          <a:stretch>
            <a:fillRect/>
          </a:stretch>
        </p:blipFill>
        <p:spPr>
          <a:xfrm>
            <a:off x="599933" y="3817733"/>
            <a:ext cx="2184003" cy="142507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5916062-296B-2970-3C5E-84C855889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009" y="3721967"/>
            <a:ext cx="1824209" cy="1763162"/>
          </a:xfrm>
          <a:prstGeom prst="rect">
            <a:avLst/>
          </a:prstGeom>
        </p:spPr>
      </p:pic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49CB192C-4085-3FA7-C086-0671E7994280}"/>
              </a:ext>
            </a:extLst>
          </p:cNvPr>
          <p:cNvSpPr/>
          <p:nvPr/>
        </p:nvSpPr>
        <p:spPr>
          <a:xfrm>
            <a:off x="6109588" y="1261527"/>
            <a:ext cx="2609364" cy="2336293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A6C178EF-2B74-7B57-A890-7B776DC79679}"/>
              </a:ext>
            </a:extLst>
          </p:cNvPr>
          <p:cNvSpPr/>
          <p:nvPr/>
        </p:nvSpPr>
        <p:spPr>
          <a:xfrm>
            <a:off x="5821218" y="2110876"/>
            <a:ext cx="301040" cy="487872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4277BAD4-1D3A-8AFF-621F-C9B6E0145C77}"/>
              </a:ext>
            </a:extLst>
          </p:cNvPr>
          <p:cNvSpPr/>
          <p:nvPr/>
        </p:nvSpPr>
        <p:spPr>
          <a:xfrm>
            <a:off x="444486" y="1259152"/>
            <a:ext cx="2609364" cy="2336293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301166D-F6EC-C88A-8355-2ABA6E6B837B}"/>
              </a:ext>
            </a:extLst>
          </p:cNvPr>
          <p:cNvSpPr/>
          <p:nvPr/>
        </p:nvSpPr>
        <p:spPr>
          <a:xfrm>
            <a:off x="443668" y="1259152"/>
            <a:ext cx="2609364" cy="306638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DF3BE0-9D34-5BA8-BE85-00B23E58B4F1}"/>
              </a:ext>
            </a:extLst>
          </p:cNvPr>
          <p:cNvSpPr txBox="1"/>
          <p:nvPr/>
        </p:nvSpPr>
        <p:spPr>
          <a:xfrm>
            <a:off x="487471" y="1323139"/>
            <a:ext cx="2482312" cy="1937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019" b="1">
                <a:solidFill>
                  <a:srgbClr val="1E1E1E"/>
                </a:solidFill>
                <a:latin typeface="Arial"/>
              </a:defRPr>
            </a:pPr>
            <a:r>
              <a:rPr sz="1000"/>
              <a:t>①  Establish Global Network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0CCE4E68-F0AA-B4D9-8969-DF8042995E89}"/>
              </a:ext>
            </a:extLst>
          </p:cNvPr>
          <p:cNvSpPr/>
          <p:nvPr/>
        </p:nvSpPr>
        <p:spPr>
          <a:xfrm>
            <a:off x="516675" y="1646087"/>
            <a:ext cx="2423904" cy="605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14B321-C270-2609-718C-80D34BEA8077}"/>
              </a:ext>
            </a:extLst>
          </p:cNvPr>
          <p:cNvSpPr txBox="1"/>
          <p:nvPr/>
        </p:nvSpPr>
        <p:spPr>
          <a:xfrm>
            <a:off x="1672676" y="1686789"/>
            <a:ext cx="1058629" cy="1831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50" b="1">
                <a:solidFill>
                  <a:srgbClr val="001B4C"/>
                </a:solidFill>
                <a:latin typeface="Arial"/>
              </a:defRPr>
            </a:pPr>
            <a:r>
              <a:rPr>
                <a:solidFill>
                  <a:srgbClr val="0048BE"/>
                </a:solidFill>
              </a:rPr>
              <a:t>Abbott Network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7C69A6-C3F0-9294-8523-B1939EA1E474}"/>
              </a:ext>
            </a:extLst>
          </p:cNvPr>
          <p:cNvSpPr txBox="1"/>
          <p:nvPr/>
        </p:nvSpPr>
        <p:spPr>
          <a:xfrm>
            <a:off x="1671854" y="1848410"/>
            <a:ext cx="1131640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50" b="0">
                <a:solidFill>
                  <a:srgbClr val="1E1E1E"/>
                </a:solidFill>
                <a:latin typeface="Arial"/>
              </a:defRPr>
            </a:pPr>
            <a:r>
              <a:rPr sz="700"/>
              <a:t>Leverage Abbott's</a:t>
            </a:r>
            <a:br>
              <a:rPr sz="700"/>
            </a:br>
            <a:r>
              <a:rPr sz="700"/>
              <a:t>established network and</a:t>
            </a:r>
            <a:br>
              <a:rPr sz="700"/>
            </a:br>
            <a:r>
              <a:rPr sz="700"/>
              <a:t>sales infrastructure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5494E3-52AB-939D-E6A0-79FA427927EA}"/>
              </a:ext>
            </a:extLst>
          </p:cNvPr>
          <p:cNvSpPr txBox="1"/>
          <p:nvPr/>
        </p:nvSpPr>
        <p:spPr>
          <a:xfrm>
            <a:off x="4688449" y="1941221"/>
            <a:ext cx="1097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200" b="1">
                <a:solidFill>
                  <a:srgbClr val="0058BE"/>
                </a:solidFill>
                <a:latin typeface="Arial"/>
              </a:defRPr>
            </a:pPr>
            <a:r>
              <a:t>FDA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008002-358D-E67E-179E-1D539772F221}"/>
              </a:ext>
            </a:extLst>
          </p:cNvPr>
          <p:cNvSpPr txBox="1"/>
          <p:nvPr/>
        </p:nvSpPr>
        <p:spPr>
          <a:xfrm>
            <a:off x="4696069" y="2589604"/>
            <a:ext cx="7772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900" b="1">
                <a:solidFill>
                  <a:srgbClr val="0058BE"/>
                </a:solidFill>
                <a:latin typeface="Arial"/>
              </a:defRPr>
            </a:pPr>
            <a:r>
              <a:t>FDA</a:t>
            </a:r>
            <a:br/>
            <a:r>
              <a:t>Approved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41BFD0-0978-666C-0C82-9F62F82DF94F}"/>
              </a:ext>
            </a:extLst>
          </p:cNvPr>
          <p:cNvSpPr txBox="1"/>
          <p:nvPr/>
        </p:nvSpPr>
        <p:spPr>
          <a:xfrm>
            <a:off x="4696069" y="3156532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Arial"/>
              </a:defRPr>
            </a:pPr>
            <a:r>
              <a:t>U.S. Market</a:t>
            </a:r>
            <a:br/>
            <a:r>
              <a:t>Access</a:t>
            </a:r>
          </a:p>
        </p:txBody>
      </p:sp>
      <p:sp>
        <p:nvSpPr>
          <p:cNvPr id="38" name="Rounded Rectangle 78">
            <a:extLst>
              <a:ext uri="{FF2B5EF4-FFF2-40B4-BE49-F238E27FC236}">
                <a16:creationId xmlns:a16="http://schemas.microsoft.com/office/drawing/2014/main" id="{BC67BD6D-C531-ABDD-FDB4-F58289500B4A}"/>
              </a:ext>
            </a:extLst>
          </p:cNvPr>
          <p:cNvSpPr/>
          <p:nvPr/>
        </p:nvSpPr>
        <p:spPr>
          <a:xfrm>
            <a:off x="442850" y="5194105"/>
            <a:ext cx="1121493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71E558-33FA-ED47-0D4D-95CD961E5D63}"/>
              </a:ext>
            </a:extLst>
          </p:cNvPr>
          <p:cNvSpPr txBox="1"/>
          <p:nvPr/>
        </p:nvSpPr>
        <p:spPr>
          <a:xfrm>
            <a:off x="1406352" y="5418134"/>
            <a:ext cx="1191532" cy="4985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60" b="0">
                <a:solidFill>
                  <a:srgbClr val="1E1E1E"/>
                </a:solidFill>
                <a:latin typeface="Arial"/>
              </a:defRPr>
            </a:pPr>
            <a:r>
              <a:rPr sz="1000"/>
              <a:t>Maximize Global</a:t>
            </a:r>
            <a:br>
              <a:rPr sz="1000"/>
            </a:br>
            <a:r>
              <a:rPr sz="1000"/>
              <a:t>Exports and</a:t>
            </a:r>
            <a:br>
              <a:rPr sz="1000"/>
            </a:br>
            <a:r>
              <a:rPr sz="1000"/>
              <a:t>Economic Impact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76A641-1F68-9183-145B-4FD1E364B9F1}"/>
              </a:ext>
            </a:extLst>
          </p:cNvPr>
          <p:cNvSpPr txBox="1"/>
          <p:nvPr/>
        </p:nvSpPr>
        <p:spPr>
          <a:xfrm>
            <a:off x="3517824" y="5373566"/>
            <a:ext cx="120402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60" b="0">
                <a:solidFill>
                  <a:srgbClr val="1E1E1E"/>
                </a:solidFill>
                <a:latin typeface="Arial"/>
              </a:defRPr>
            </a:pPr>
            <a:r>
              <a:rPr sz="900" b="1">
                <a:solidFill>
                  <a:srgbClr val="0048BE"/>
                </a:solidFill>
              </a:rPr>
              <a:t>Expand</a:t>
            </a:r>
            <a:br>
              <a:rPr sz="900" b="1">
                <a:solidFill>
                  <a:srgbClr val="0048BE"/>
                </a:solidFill>
              </a:rPr>
            </a:br>
            <a:r>
              <a:rPr sz="900" b="1">
                <a:solidFill>
                  <a:srgbClr val="0048BE"/>
                </a:solidFill>
              </a:rPr>
              <a:t>Global Market Share</a:t>
            </a:r>
            <a:endParaRPr sz="900"/>
          </a:p>
        </p:txBody>
      </p:sp>
      <p:sp>
        <p:nvSpPr>
          <p:cNvPr id="41" name="Rectangle 83">
            <a:extLst>
              <a:ext uri="{FF2B5EF4-FFF2-40B4-BE49-F238E27FC236}">
                <a16:creationId xmlns:a16="http://schemas.microsoft.com/office/drawing/2014/main" id="{8041863E-BB28-DD24-57C0-FC9E529ECF90}"/>
              </a:ext>
            </a:extLst>
          </p:cNvPr>
          <p:cNvSpPr/>
          <p:nvPr/>
        </p:nvSpPr>
        <p:spPr>
          <a:xfrm>
            <a:off x="2629047" y="5378188"/>
            <a:ext cx="9144" cy="566928"/>
          </a:xfrm>
          <a:prstGeom prst="rect">
            <a:avLst/>
          </a:prstGeom>
          <a:solidFill>
            <a:srgbClr val="CE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86">
            <a:extLst>
              <a:ext uri="{FF2B5EF4-FFF2-40B4-BE49-F238E27FC236}">
                <a16:creationId xmlns:a16="http://schemas.microsoft.com/office/drawing/2014/main" id="{03E2FD48-EC20-7C90-9D5B-C135C2DE6BE9}"/>
              </a:ext>
            </a:extLst>
          </p:cNvPr>
          <p:cNvSpPr/>
          <p:nvPr/>
        </p:nvSpPr>
        <p:spPr>
          <a:xfrm>
            <a:off x="4935234" y="5378188"/>
            <a:ext cx="9144" cy="566928"/>
          </a:xfrm>
          <a:prstGeom prst="rect">
            <a:avLst/>
          </a:prstGeom>
          <a:solidFill>
            <a:srgbClr val="CE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89">
            <a:extLst>
              <a:ext uri="{FF2B5EF4-FFF2-40B4-BE49-F238E27FC236}">
                <a16:creationId xmlns:a16="http://schemas.microsoft.com/office/drawing/2014/main" id="{01B1FBB8-D7B8-2846-2D1E-532008200972}"/>
              </a:ext>
            </a:extLst>
          </p:cNvPr>
          <p:cNvSpPr/>
          <p:nvPr/>
        </p:nvSpPr>
        <p:spPr>
          <a:xfrm>
            <a:off x="7062484" y="5378188"/>
            <a:ext cx="9144" cy="566928"/>
          </a:xfrm>
          <a:prstGeom prst="rect">
            <a:avLst/>
          </a:prstGeom>
          <a:solidFill>
            <a:srgbClr val="CE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92">
            <a:extLst>
              <a:ext uri="{FF2B5EF4-FFF2-40B4-BE49-F238E27FC236}">
                <a16:creationId xmlns:a16="http://schemas.microsoft.com/office/drawing/2014/main" id="{65270581-9253-D014-6032-293F9D6BA10D}"/>
              </a:ext>
            </a:extLst>
          </p:cNvPr>
          <p:cNvSpPr/>
          <p:nvPr/>
        </p:nvSpPr>
        <p:spPr>
          <a:xfrm>
            <a:off x="9437119" y="5378188"/>
            <a:ext cx="9144" cy="566928"/>
          </a:xfrm>
          <a:prstGeom prst="rect">
            <a:avLst/>
          </a:prstGeom>
          <a:solidFill>
            <a:srgbClr val="CE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228A3E-00C7-0E64-F1F3-CFC5F50E660D}"/>
              </a:ext>
            </a:extLst>
          </p:cNvPr>
          <p:cNvSpPr txBox="1"/>
          <p:nvPr/>
        </p:nvSpPr>
        <p:spPr>
          <a:xfrm>
            <a:off x="1335927" y="6325031"/>
            <a:ext cx="9784080" cy="2062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100" b="1">
                <a:solidFill>
                  <a:srgbClr val="1E1E1E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Stronger Global Network   +   Certifications   +   Product Competitiveness   =   Sustainable Export Growth and Long-Term Value Creation</a:t>
            </a:r>
          </a:p>
        </p:txBody>
      </p:sp>
      <p:pic>
        <p:nvPicPr>
          <p:cNvPr id="47" name="그래픽 46">
            <a:extLst>
              <a:ext uri="{FF2B5EF4-FFF2-40B4-BE49-F238E27FC236}">
                <a16:creationId xmlns:a16="http://schemas.microsoft.com/office/drawing/2014/main" id="{1082B34B-A98B-11C6-11E8-C98202FBFB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888" y="1853670"/>
            <a:ext cx="792150" cy="202534"/>
          </a:xfrm>
          <a:prstGeom prst="rect">
            <a:avLst/>
          </a:prstGeom>
        </p:spPr>
      </p:pic>
      <p:sp>
        <p:nvSpPr>
          <p:cNvPr id="48" name="Rounded Rectangle 17">
            <a:extLst>
              <a:ext uri="{FF2B5EF4-FFF2-40B4-BE49-F238E27FC236}">
                <a16:creationId xmlns:a16="http://schemas.microsoft.com/office/drawing/2014/main" id="{3B5EAE72-306D-59B9-5D5F-EB783FD9FE68}"/>
              </a:ext>
            </a:extLst>
          </p:cNvPr>
          <p:cNvSpPr/>
          <p:nvPr/>
        </p:nvSpPr>
        <p:spPr>
          <a:xfrm>
            <a:off x="516675" y="2287749"/>
            <a:ext cx="2423904" cy="605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3FB4DABC-E58D-D163-B55E-1E21968475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7" b="38993"/>
          <a:stretch>
            <a:fillRect/>
          </a:stretch>
        </p:blipFill>
        <p:spPr>
          <a:xfrm>
            <a:off x="599933" y="2481484"/>
            <a:ext cx="906782" cy="18639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6211AB7-186C-383A-3F77-6C4FE370B7D6}"/>
              </a:ext>
            </a:extLst>
          </p:cNvPr>
          <p:cNvSpPr txBox="1"/>
          <p:nvPr/>
        </p:nvSpPr>
        <p:spPr>
          <a:xfrm>
            <a:off x="1656067" y="2358489"/>
            <a:ext cx="1174750" cy="1600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50" b="1">
                <a:solidFill>
                  <a:srgbClr val="001B4C"/>
                </a:solidFill>
                <a:latin typeface="Arial"/>
              </a:defRPr>
            </a:pPr>
            <a:r>
              <a:rPr sz="800">
                <a:solidFill>
                  <a:srgbClr val="0048BE"/>
                </a:solidFill>
              </a:rPr>
              <a:t>Paragon Care Network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2CA57B-EA14-77EA-53BB-13865DFD8EC1}"/>
              </a:ext>
            </a:extLst>
          </p:cNvPr>
          <p:cNvSpPr txBox="1"/>
          <p:nvPr/>
        </p:nvSpPr>
        <p:spPr>
          <a:xfrm>
            <a:off x="1653571" y="2509432"/>
            <a:ext cx="113164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50" b="0">
                <a:solidFill>
                  <a:srgbClr val="1E1E1E"/>
                </a:solidFill>
                <a:latin typeface="Arial"/>
              </a:defRPr>
            </a:pPr>
            <a:r>
              <a:rPr sz="600"/>
              <a:t>Expand global presence</a:t>
            </a:r>
            <a:br>
              <a:rPr sz="600"/>
            </a:br>
            <a:r>
              <a:rPr sz="600"/>
              <a:t>in Australia and other</a:t>
            </a:r>
            <a:br>
              <a:rPr sz="600"/>
            </a:br>
            <a:r>
              <a:rPr sz="600"/>
              <a:t>key regions</a:t>
            </a: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702D70E6-42B0-85BC-62C7-A592F4767EC4}"/>
              </a:ext>
            </a:extLst>
          </p:cNvPr>
          <p:cNvSpPr/>
          <p:nvPr/>
        </p:nvSpPr>
        <p:spPr>
          <a:xfrm>
            <a:off x="512693" y="2935840"/>
            <a:ext cx="2423904" cy="605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5FE10E-DC66-4DB0-E445-7EA44D7AAEA0}"/>
              </a:ext>
            </a:extLst>
          </p:cNvPr>
          <p:cNvSpPr txBox="1"/>
          <p:nvPr/>
        </p:nvSpPr>
        <p:spPr>
          <a:xfrm>
            <a:off x="1656067" y="3020900"/>
            <a:ext cx="1137012" cy="1600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50" b="1">
                <a:solidFill>
                  <a:srgbClr val="001B4C"/>
                </a:solidFill>
                <a:latin typeface="Arial"/>
              </a:defRPr>
            </a:pPr>
            <a:r>
              <a:rPr sz="800" err="1">
                <a:solidFill>
                  <a:srgbClr val="0048BE"/>
                </a:solidFill>
              </a:rPr>
              <a:t>Lituo</a:t>
            </a:r>
            <a:r>
              <a:rPr sz="800">
                <a:solidFill>
                  <a:srgbClr val="0048BE"/>
                </a:solidFill>
              </a:rPr>
              <a:t> Medical (China)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94794-6875-4316-B6A0-4D2009027EB3}"/>
              </a:ext>
            </a:extLst>
          </p:cNvPr>
          <p:cNvSpPr txBox="1"/>
          <p:nvPr/>
        </p:nvSpPr>
        <p:spPr>
          <a:xfrm>
            <a:off x="1656949" y="3168350"/>
            <a:ext cx="113164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50" b="0">
                <a:solidFill>
                  <a:srgbClr val="1E1E1E"/>
                </a:solidFill>
                <a:latin typeface="Arial"/>
              </a:defRPr>
            </a:pPr>
            <a:r>
              <a:rPr sz="600"/>
              <a:t>Leverage </a:t>
            </a:r>
            <a:r>
              <a:rPr sz="600" err="1"/>
              <a:t>Lituo</a:t>
            </a:r>
            <a:r>
              <a:rPr sz="600"/>
              <a:t> Medical's</a:t>
            </a:r>
            <a:br>
              <a:rPr sz="600"/>
            </a:br>
            <a:r>
              <a:rPr sz="600"/>
              <a:t>local network and distribution</a:t>
            </a:r>
            <a:br>
              <a:rPr sz="600"/>
            </a:br>
            <a:r>
              <a:rPr sz="600"/>
              <a:t>in China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1D736226-53FE-6F30-2457-9B77AAF1A5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30" b="-1647"/>
          <a:stretch>
            <a:fillRect/>
          </a:stretch>
        </p:blipFill>
        <p:spPr>
          <a:xfrm>
            <a:off x="923669" y="3074044"/>
            <a:ext cx="397995" cy="376429"/>
          </a:xfrm>
          <a:prstGeom prst="rect">
            <a:avLst/>
          </a:prstGeom>
        </p:spPr>
      </p:pic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A3981793-54E4-41DD-7655-09FE132A4990}"/>
              </a:ext>
            </a:extLst>
          </p:cNvPr>
          <p:cNvSpPr/>
          <p:nvPr/>
        </p:nvSpPr>
        <p:spPr>
          <a:xfrm>
            <a:off x="3212672" y="1268296"/>
            <a:ext cx="2609364" cy="2336293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6">
            <a:extLst>
              <a:ext uri="{FF2B5EF4-FFF2-40B4-BE49-F238E27FC236}">
                <a16:creationId xmlns:a16="http://schemas.microsoft.com/office/drawing/2014/main" id="{9A62AF5F-9F65-952B-064A-724AA4B391F4}"/>
              </a:ext>
            </a:extLst>
          </p:cNvPr>
          <p:cNvSpPr/>
          <p:nvPr/>
        </p:nvSpPr>
        <p:spPr>
          <a:xfrm>
            <a:off x="3211854" y="1268296"/>
            <a:ext cx="2609364" cy="306638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41D01A-BEB7-6C0D-0D42-6E5DAAE4E202}"/>
              </a:ext>
            </a:extLst>
          </p:cNvPr>
          <p:cNvSpPr txBox="1"/>
          <p:nvPr/>
        </p:nvSpPr>
        <p:spPr>
          <a:xfrm>
            <a:off x="3255657" y="1332283"/>
            <a:ext cx="2482312" cy="1937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019" b="1">
                <a:solidFill>
                  <a:srgbClr val="1E1E1E"/>
                </a:solidFill>
                <a:latin typeface="Arial"/>
              </a:defRPr>
            </a:pPr>
            <a:r>
              <a:rPr lang="en-US" altLang="ko-KR" sz="1000"/>
              <a:t>②  Strengthen Global Certifications</a:t>
            </a:r>
          </a:p>
        </p:txBody>
      </p:sp>
      <p:sp>
        <p:nvSpPr>
          <p:cNvPr id="59" name="Rounded Rectangle 17">
            <a:extLst>
              <a:ext uri="{FF2B5EF4-FFF2-40B4-BE49-F238E27FC236}">
                <a16:creationId xmlns:a16="http://schemas.microsoft.com/office/drawing/2014/main" id="{6E6B35B2-DFFC-F572-5418-96C49AC0A317}"/>
              </a:ext>
            </a:extLst>
          </p:cNvPr>
          <p:cNvSpPr/>
          <p:nvPr/>
        </p:nvSpPr>
        <p:spPr>
          <a:xfrm>
            <a:off x="3284861" y="1655231"/>
            <a:ext cx="2423904" cy="1208692"/>
          </a:xfrm>
          <a:prstGeom prst="roundRect">
            <a:avLst>
              <a:gd name="adj" fmla="val 7211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17">
            <a:extLst>
              <a:ext uri="{FF2B5EF4-FFF2-40B4-BE49-F238E27FC236}">
                <a16:creationId xmlns:a16="http://schemas.microsoft.com/office/drawing/2014/main" id="{754FD603-A84E-BE2B-B42F-8498C78CAD52}"/>
              </a:ext>
            </a:extLst>
          </p:cNvPr>
          <p:cNvSpPr/>
          <p:nvPr/>
        </p:nvSpPr>
        <p:spPr>
          <a:xfrm>
            <a:off x="3280879" y="2944984"/>
            <a:ext cx="2423904" cy="605976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53536C33-FFF6-B070-E737-848A7C1F4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09" y="1776409"/>
            <a:ext cx="399807" cy="28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E1F1DEBE-37FE-5B96-0175-50DFB077575A}"/>
              </a:ext>
            </a:extLst>
          </p:cNvPr>
          <p:cNvSpPr txBox="1"/>
          <p:nvPr/>
        </p:nvSpPr>
        <p:spPr>
          <a:xfrm>
            <a:off x="4899441" y="2037271"/>
            <a:ext cx="414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latin typeface="Arial" panose="020B0604020202020204" pitchFamily="34" charset="0"/>
                <a:cs typeface="Arial" panose="020B0604020202020204" pitchFamily="34" charset="0"/>
              </a:rPr>
              <a:t>MDR</a:t>
            </a:r>
            <a:endParaRPr lang="ko-KR" altLang="en-US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467640-A340-FD9E-09DD-2D6FA817E1E8}"/>
              </a:ext>
            </a:extLst>
          </p:cNvPr>
          <p:cNvSpPr txBox="1"/>
          <p:nvPr/>
        </p:nvSpPr>
        <p:spPr>
          <a:xfrm>
            <a:off x="4816529" y="2199598"/>
            <a:ext cx="53975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900" b="1">
                <a:solidFill>
                  <a:srgbClr val="0058BE"/>
                </a:solidFill>
                <a:latin typeface="Arial"/>
              </a:defRPr>
            </a:pPr>
            <a:r>
              <a:rPr sz="800">
                <a:solidFill>
                  <a:srgbClr val="0048BE"/>
                </a:solidFill>
              </a:rPr>
              <a:t>CE MDR</a:t>
            </a:r>
            <a:br>
              <a:rPr sz="800">
                <a:solidFill>
                  <a:srgbClr val="0048BE"/>
                </a:solidFill>
              </a:rPr>
            </a:br>
            <a:r>
              <a:rPr sz="800">
                <a:solidFill>
                  <a:srgbClr val="0048BE"/>
                </a:solidFill>
              </a:rPr>
              <a:t>Certified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F2C94012-E77A-8CC1-F82A-67B55BBDF7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3711" y="1769335"/>
            <a:ext cx="666126" cy="341541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87EE282-3BAE-88CF-AC82-A555C181A977}"/>
              </a:ext>
            </a:extLst>
          </p:cNvPr>
          <p:cNvSpPr txBox="1"/>
          <p:nvPr/>
        </p:nvSpPr>
        <p:spPr>
          <a:xfrm>
            <a:off x="3637743" y="2170467"/>
            <a:ext cx="53975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900" b="1">
                <a:solidFill>
                  <a:srgbClr val="0058BE"/>
                </a:solidFill>
                <a:latin typeface="Arial"/>
              </a:defRPr>
            </a:pPr>
            <a:r>
              <a:rPr lang="en-US" sz="800">
                <a:solidFill>
                  <a:srgbClr val="0048BE"/>
                </a:solidFill>
              </a:rPr>
              <a:t>FDA</a:t>
            </a:r>
          </a:p>
          <a:p>
            <a:pPr algn="ctr">
              <a:defRPr sz="900" b="1">
                <a:solidFill>
                  <a:srgbClr val="0058BE"/>
                </a:solidFill>
                <a:latin typeface="Arial"/>
              </a:defRPr>
            </a:pPr>
            <a:r>
              <a:rPr lang="en-US" sz="800">
                <a:solidFill>
                  <a:srgbClr val="0048BE"/>
                </a:solidFill>
              </a:rPr>
              <a:t>Approved</a:t>
            </a:r>
            <a:endParaRPr sz="800">
              <a:solidFill>
                <a:srgbClr val="0048BE"/>
              </a:solidFill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01748BF-437D-583F-4921-2223D92B3A07}"/>
              </a:ext>
            </a:extLst>
          </p:cNvPr>
          <p:cNvCxnSpPr>
            <a:cxnSpLocks/>
          </p:cNvCxnSpPr>
          <p:nvPr/>
        </p:nvCxnSpPr>
        <p:spPr>
          <a:xfrm>
            <a:off x="4490836" y="1716771"/>
            <a:ext cx="0" cy="108897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30ADC23-EF6F-B5F0-2B5B-35E4C1BB452A}"/>
              </a:ext>
            </a:extLst>
          </p:cNvPr>
          <p:cNvCxnSpPr/>
          <p:nvPr/>
        </p:nvCxnSpPr>
        <p:spPr>
          <a:xfrm>
            <a:off x="3400097" y="2510100"/>
            <a:ext cx="1019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4BC62830-D475-B416-B736-40106F049ABB}"/>
              </a:ext>
            </a:extLst>
          </p:cNvPr>
          <p:cNvCxnSpPr/>
          <p:nvPr/>
        </p:nvCxnSpPr>
        <p:spPr>
          <a:xfrm>
            <a:off x="4591294" y="2513275"/>
            <a:ext cx="1019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2ADC7BD-2FE5-E11C-77AD-7B5AAA5BDC7F}"/>
              </a:ext>
            </a:extLst>
          </p:cNvPr>
          <p:cNvSpPr txBox="1"/>
          <p:nvPr/>
        </p:nvSpPr>
        <p:spPr>
          <a:xfrm>
            <a:off x="3456648" y="2545442"/>
            <a:ext cx="902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>
                <a:latin typeface="Arial" panose="020B0604020202020204" pitchFamily="34" charset="0"/>
                <a:cs typeface="Arial" panose="020B0604020202020204" pitchFamily="34" charset="0"/>
              </a:rPr>
              <a:t>U.S. Market</a:t>
            </a:r>
          </a:p>
          <a:p>
            <a:pPr algn="ctr"/>
            <a:r>
              <a:rPr lang="en-US" altLang="ko-KR" sz="70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8B2582-A691-6236-D072-2461FFF7BA65}"/>
              </a:ext>
            </a:extLst>
          </p:cNvPr>
          <p:cNvSpPr txBox="1"/>
          <p:nvPr/>
        </p:nvSpPr>
        <p:spPr>
          <a:xfrm>
            <a:off x="4628670" y="2548525"/>
            <a:ext cx="902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>
                <a:latin typeface="Arial" panose="020B0604020202020204" pitchFamily="34" charset="0"/>
                <a:cs typeface="Arial" panose="020B0604020202020204" pitchFamily="34" charset="0"/>
              </a:rPr>
              <a:t>EU Market</a:t>
            </a:r>
          </a:p>
          <a:p>
            <a:pPr algn="ctr"/>
            <a:r>
              <a:rPr lang="en-US" altLang="ko-KR" sz="70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endParaRPr lang="ko-KR" alt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3FFD2D29-A895-6EA8-E92A-C18462F0F77C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788" y="3081938"/>
            <a:ext cx="321168" cy="321168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4176A76-12FE-CBAD-0DD2-B8B013F62C86}"/>
              </a:ext>
            </a:extLst>
          </p:cNvPr>
          <p:cNvSpPr txBox="1"/>
          <p:nvPr/>
        </p:nvSpPr>
        <p:spPr>
          <a:xfrm>
            <a:off x="3948060" y="3038080"/>
            <a:ext cx="1601957" cy="4293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50" b="0">
                <a:solidFill>
                  <a:srgbClr val="001B4C"/>
                </a:solidFill>
                <a:latin typeface="Arial"/>
              </a:defRPr>
            </a:pPr>
            <a:r>
              <a:rPr>
                <a:solidFill>
                  <a:srgbClr val="0048BE"/>
                </a:solidFill>
              </a:rPr>
              <a:t>Secure global certifications to</a:t>
            </a:r>
            <a:br>
              <a:rPr>
                <a:solidFill>
                  <a:srgbClr val="0048BE"/>
                </a:solidFill>
              </a:rPr>
            </a:br>
            <a:r>
              <a:rPr>
                <a:solidFill>
                  <a:srgbClr val="0048BE"/>
                </a:solidFill>
              </a:rPr>
              <a:t>strengthen market access</a:t>
            </a:r>
            <a:br>
              <a:rPr>
                <a:solidFill>
                  <a:srgbClr val="0048BE"/>
                </a:solidFill>
              </a:rPr>
            </a:br>
            <a:r>
              <a:rPr>
                <a:solidFill>
                  <a:srgbClr val="0048BE"/>
                </a:solidFill>
              </a:rPr>
              <a:t>and competitiveness</a:t>
            </a: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AAFB8EC0-AB31-AF93-0653-C3A295DF6415}"/>
              </a:ext>
            </a:extLst>
          </p:cNvPr>
          <p:cNvSpPr/>
          <p:nvPr/>
        </p:nvSpPr>
        <p:spPr>
          <a:xfrm>
            <a:off x="6108770" y="1261527"/>
            <a:ext cx="2609364" cy="306638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E21E6CF-8A2E-02AD-8CBE-05FCF7DA4169}"/>
              </a:ext>
            </a:extLst>
          </p:cNvPr>
          <p:cNvSpPr txBox="1"/>
          <p:nvPr/>
        </p:nvSpPr>
        <p:spPr>
          <a:xfrm>
            <a:off x="6152573" y="1325514"/>
            <a:ext cx="2482312" cy="1937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019" b="1">
                <a:solidFill>
                  <a:srgbClr val="1E1E1E"/>
                </a:solidFill>
                <a:latin typeface="Arial"/>
              </a:defRPr>
            </a:pPr>
            <a:r>
              <a:rPr lang="en-US" altLang="ko-KR" sz="1000"/>
              <a:t>③  Expand Global Exports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845597D5-C1D1-C782-6AD7-3FB6EC4694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176" y="2369386"/>
            <a:ext cx="416985" cy="416985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264CF6AC-2E99-3DB6-D9C7-1994C29D09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176" y="3047817"/>
            <a:ext cx="425707" cy="4257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9C7EF305-8E8E-8319-2961-E99F5848E5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176" y="1713684"/>
            <a:ext cx="431925" cy="431925"/>
          </a:xfrm>
          <a:prstGeom prst="rect">
            <a:avLst/>
          </a:prstGeom>
        </p:spPr>
      </p:pic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9440CDB-89E9-9ADE-73B4-F0FFD1DB3D98}"/>
              </a:ext>
            </a:extLst>
          </p:cNvPr>
          <p:cNvCxnSpPr>
            <a:cxnSpLocks/>
          </p:cNvCxnSpPr>
          <p:nvPr/>
        </p:nvCxnSpPr>
        <p:spPr>
          <a:xfrm>
            <a:off x="6228785" y="2252063"/>
            <a:ext cx="24182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95BA940C-C6A7-C0A2-2CF1-96AB01B7A002}"/>
              </a:ext>
            </a:extLst>
          </p:cNvPr>
          <p:cNvCxnSpPr>
            <a:cxnSpLocks/>
          </p:cNvCxnSpPr>
          <p:nvPr/>
        </p:nvCxnSpPr>
        <p:spPr>
          <a:xfrm>
            <a:off x="6228785" y="2875759"/>
            <a:ext cx="24182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00110CB-C1CF-46A3-EFC4-CAE74773490C}"/>
              </a:ext>
            </a:extLst>
          </p:cNvPr>
          <p:cNvSpPr txBox="1"/>
          <p:nvPr/>
        </p:nvSpPr>
        <p:spPr>
          <a:xfrm>
            <a:off x="6810572" y="1756025"/>
            <a:ext cx="100584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50" b="1">
                <a:solidFill>
                  <a:srgbClr val="001B4C"/>
                </a:solidFill>
                <a:latin typeface="Arial"/>
              </a:defRPr>
            </a:pPr>
            <a:r>
              <a:t>U.S. Market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FDF678-933F-980F-C250-7125A0CAF694}"/>
              </a:ext>
            </a:extLst>
          </p:cNvPr>
          <p:cNvSpPr txBox="1"/>
          <p:nvPr/>
        </p:nvSpPr>
        <p:spPr>
          <a:xfrm>
            <a:off x="7646486" y="1759406"/>
            <a:ext cx="1097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69" b="0">
                <a:solidFill>
                  <a:srgbClr val="1E1E1E"/>
                </a:solidFill>
                <a:latin typeface="Arial"/>
              </a:defRPr>
            </a:pPr>
            <a:r>
              <a:t>Expand via Abbott</a:t>
            </a:r>
            <a:br>
              <a:rPr/>
            </a:br>
            <a:r>
              <a:t>network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E85F49D-E3B4-E932-A57B-D5E8E71EAACA}"/>
              </a:ext>
            </a:extLst>
          </p:cNvPr>
          <p:cNvSpPr txBox="1"/>
          <p:nvPr/>
        </p:nvSpPr>
        <p:spPr>
          <a:xfrm>
            <a:off x="6745039" y="2420991"/>
            <a:ext cx="100584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50" b="1">
                <a:solidFill>
                  <a:srgbClr val="001B4C"/>
                </a:solidFill>
                <a:latin typeface="Arial"/>
              </a:defRPr>
            </a:pPr>
            <a:r>
              <a:t>Australia Market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296C74-860D-8B68-B18D-F9CD0A7380BC}"/>
              </a:ext>
            </a:extLst>
          </p:cNvPr>
          <p:cNvSpPr txBox="1"/>
          <p:nvPr/>
        </p:nvSpPr>
        <p:spPr>
          <a:xfrm>
            <a:off x="7824031" y="2347839"/>
            <a:ext cx="1097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69" b="0">
                <a:solidFill>
                  <a:srgbClr val="1E1E1E"/>
                </a:solidFill>
                <a:latin typeface="Arial"/>
              </a:defRPr>
            </a:pPr>
            <a:r>
              <a:t>Expand via</a:t>
            </a:r>
            <a:br>
              <a:rPr/>
            </a:br>
            <a:r>
              <a:t>Paragon Care</a:t>
            </a:r>
            <a:br>
              <a:rPr/>
            </a:br>
            <a:r>
              <a:t>network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945C571-90CC-AF88-7B72-33130A72DF8A}"/>
              </a:ext>
            </a:extLst>
          </p:cNvPr>
          <p:cNvSpPr txBox="1"/>
          <p:nvPr/>
        </p:nvSpPr>
        <p:spPr>
          <a:xfrm>
            <a:off x="6809048" y="3110812"/>
            <a:ext cx="100584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50" b="1">
                <a:solidFill>
                  <a:srgbClr val="001B4C"/>
                </a:solidFill>
                <a:latin typeface="Arial"/>
              </a:defRPr>
            </a:pPr>
            <a:r>
              <a:t>China Market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A9E8DE-0F90-ACB1-C28A-69126CBE1D4B}"/>
              </a:ext>
            </a:extLst>
          </p:cNvPr>
          <p:cNvSpPr txBox="1"/>
          <p:nvPr/>
        </p:nvSpPr>
        <p:spPr>
          <a:xfrm>
            <a:off x="7772400" y="3034538"/>
            <a:ext cx="1097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869" b="0">
                <a:solidFill>
                  <a:srgbClr val="1E1E1E"/>
                </a:solidFill>
                <a:latin typeface="Arial"/>
              </a:defRPr>
            </a:pPr>
            <a:r>
              <a:t>Expand via</a:t>
            </a:r>
            <a:br>
              <a:rPr/>
            </a:br>
            <a:r>
              <a:rPr err="1"/>
              <a:t>Lituo</a:t>
            </a:r>
            <a:r>
              <a:t> Medical</a:t>
            </a:r>
            <a:br>
              <a:rPr/>
            </a:br>
            <a:r>
              <a:t>network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E84F28-132A-409B-F77B-FE511C16B1F1}"/>
              </a:ext>
            </a:extLst>
          </p:cNvPr>
          <p:cNvSpPr txBox="1"/>
          <p:nvPr/>
        </p:nvSpPr>
        <p:spPr>
          <a:xfrm>
            <a:off x="11042848" y="1850882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400" b="0">
                <a:solidFill>
                  <a:srgbClr val="1E1E1E"/>
                </a:solidFill>
                <a:latin typeface="Arial"/>
              </a:defRPr>
            </a:pPr>
            <a:r>
              <a:t>🇺🇸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CF83451-D7E7-8632-AAAD-173DB4AB1998}"/>
              </a:ext>
            </a:extLst>
          </p:cNvPr>
          <p:cNvSpPr txBox="1"/>
          <p:nvPr/>
        </p:nvSpPr>
        <p:spPr>
          <a:xfrm>
            <a:off x="11042848" y="2600690"/>
            <a:ext cx="502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400" b="0">
                <a:solidFill>
                  <a:srgbClr val="1E1E1E"/>
                </a:solidFill>
                <a:latin typeface="Arial"/>
              </a:defRPr>
            </a:pPr>
            <a:r>
              <a:t>🇦🇺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52E177D-84F9-C7C0-1959-23623036F8D1}"/>
              </a:ext>
            </a:extLst>
          </p:cNvPr>
          <p:cNvSpPr txBox="1"/>
          <p:nvPr/>
        </p:nvSpPr>
        <p:spPr>
          <a:xfrm>
            <a:off x="10484141" y="1936394"/>
            <a:ext cx="1097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200" b="1">
                <a:solidFill>
                  <a:srgbClr val="0058BE"/>
                </a:solidFill>
                <a:latin typeface="Arial"/>
              </a:defRPr>
            </a:pPr>
            <a:r>
              <a:t>FDA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ADAB3C9-6E9B-9EEB-6835-D006447CEB12}"/>
              </a:ext>
            </a:extLst>
          </p:cNvPr>
          <p:cNvSpPr txBox="1"/>
          <p:nvPr/>
        </p:nvSpPr>
        <p:spPr>
          <a:xfrm>
            <a:off x="10491761" y="2584777"/>
            <a:ext cx="77724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900" b="1">
                <a:solidFill>
                  <a:srgbClr val="0058BE"/>
                </a:solidFill>
                <a:latin typeface="Arial"/>
              </a:defRPr>
            </a:pPr>
            <a:r>
              <a:t>FDA</a:t>
            </a:r>
            <a:br/>
            <a:r>
              <a:t>Approved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AC65A7F-6731-4DE9-57A9-AE2ED800E04F}"/>
              </a:ext>
            </a:extLst>
          </p:cNvPr>
          <p:cNvSpPr txBox="1"/>
          <p:nvPr/>
        </p:nvSpPr>
        <p:spPr>
          <a:xfrm>
            <a:off x="10491761" y="3151705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900" b="0">
                <a:solidFill>
                  <a:srgbClr val="1E1E1E"/>
                </a:solidFill>
                <a:latin typeface="Arial"/>
              </a:defRPr>
            </a:pPr>
            <a:r>
              <a:t>U.S. Market</a:t>
            </a:r>
            <a:br/>
            <a:r>
              <a:t>Access</a:t>
            </a:r>
          </a:p>
        </p:txBody>
      </p:sp>
      <p:sp>
        <p:nvSpPr>
          <p:cNvPr id="91" name="Rounded Rectangle 5">
            <a:extLst>
              <a:ext uri="{FF2B5EF4-FFF2-40B4-BE49-F238E27FC236}">
                <a16:creationId xmlns:a16="http://schemas.microsoft.com/office/drawing/2014/main" id="{E58F1A61-FC70-D226-AD7A-1852768BA7A2}"/>
              </a:ext>
            </a:extLst>
          </p:cNvPr>
          <p:cNvSpPr/>
          <p:nvPr/>
        </p:nvSpPr>
        <p:spPr>
          <a:xfrm>
            <a:off x="9008364" y="1263469"/>
            <a:ext cx="2609364" cy="2898904"/>
          </a:xfrm>
          <a:prstGeom prst="roundRect">
            <a:avLst>
              <a:gd name="adj" fmla="val 5165"/>
            </a:avLst>
          </a:prstGeom>
          <a:solidFill>
            <a:srgbClr val="FFFFFF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6">
            <a:extLst>
              <a:ext uri="{FF2B5EF4-FFF2-40B4-BE49-F238E27FC236}">
                <a16:creationId xmlns:a16="http://schemas.microsoft.com/office/drawing/2014/main" id="{40B06509-8BB3-497C-B0F6-2EC809983B5F}"/>
              </a:ext>
            </a:extLst>
          </p:cNvPr>
          <p:cNvSpPr/>
          <p:nvPr/>
        </p:nvSpPr>
        <p:spPr>
          <a:xfrm>
            <a:off x="9007546" y="1263469"/>
            <a:ext cx="2609364" cy="306638"/>
          </a:xfrm>
          <a:prstGeom prst="round2SameRect">
            <a:avLst/>
          </a:prstGeom>
          <a:solidFill>
            <a:srgbClr val="F8FAFC"/>
          </a:solidFill>
          <a:ln w="12700">
            <a:solidFill>
              <a:srgbClr val="CE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8883044-F017-4670-A4CB-D1143DD7B49D}"/>
              </a:ext>
            </a:extLst>
          </p:cNvPr>
          <p:cNvSpPr txBox="1"/>
          <p:nvPr/>
        </p:nvSpPr>
        <p:spPr>
          <a:xfrm>
            <a:off x="9051349" y="1327456"/>
            <a:ext cx="2482312" cy="1937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1019" b="1">
                <a:solidFill>
                  <a:srgbClr val="1E1E1E"/>
                </a:solidFill>
                <a:latin typeface="Arial"/>
              </a:defRPr>
            </a:pPr>
            <a:r>
              <a:rPr lang="en-US" altLang="ko-KR" sz="1000"/>
              <a:t>④  Export Impact</a:t>
            </a: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D62E8E05-4C67-20DE-091B-7F3419A6C2F5}"/>
              </a:ext>
            </a:extLst>
          </p:cNvPr>
          <p:cNvCxnSpPr>
            <a:cxnSpLocks/>
          </p:cNvCxnSpPr>
          <p:nvPr/>
        </p:nvCxnSpPr>
        <p:spPr>
          <a:xfrm>
            <a:off x="9127561" y="2254005"/>
            <a:ext cx="24182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652558BB-FAED-8170-25E6-EBC008157A0E}"/>
              </a:ext>
            </a:extLst>
          </p:cNvPr>
          <p:cNvCxnSpPr>
            <a:cxnSpLocks/>
          </p:cNvCxnSpPr>
          <p:nvPr/>
        </p:nvCxnSpPr>
        <p:spPr>
          <a:xfrm>
            <a:off x="9127561" y="2877701"/>
            <a:ext cx="24182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EC037C7-2FA4-4C93-FE1E-ED959396CD4F}"/>
              </a:ext>
            </a:extLst>
          </p:cNvPr>
          <p:cNvSpPr txBox="1"/>
          <p:nvPr/>
        </p:nvSpPr>
        <p:spPr>
          <a:xfrm>
            <a:off x="9798370" y="1655207"/>
            <a:ext cx="1828800" cy="17838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19" b="1">
                <a:solidFill>
                  <a:srgbClr val="001B4C"/>
                </a:solidFill>
                <a:latin typeface="Arial"/>
              </a:defRPr>
            </a:pPr>
            <a:r>
              <a:rPr>
                <a:solidFill>
                  <a:srgbClr val="0048BE"/>
                </a:solidFill>
              </a:rPr>
              <a:t>Increase Export Volume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079F781-E4CB-3358-EA43-B797AE905E56}"/>
              </a:ext>
            </a:extLst>
          </p:cNvPr>
          <p:cNvSpPr txBox="1"/>
          <p:nvPr/>
        </p:nvSpPr>
        <p:spPr>
          <a:xfrm>
            <a:off x="9798370" y="1811915"/>
            <a:ext cx="1874519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Arial"/>
              </a:defRPr>
            </a:pPr>
            <a:r>
              <a:t>Expand exports through</a:t>
            </a:r>
            <a:br>
              <a:rPr/>
            </a:br>
            <a:r>
              <a:t>network, certifications, and</a:t>
            </a:r>
            <a:br>
              <a:rPr/>
            </a:br>
            <a:r>
              <a:t>product competitiveness</a:t>
            </a:r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6905FD73-CDAE-6C2F-AD81-77B02216C549}"/>
              </a:ext>
            </a:extLst>
          </p:cNvPr>
          <p:cNvSpPr/>
          <p:nvPr/>
        </p:nvSpPr>
        <p:spPr>
          <a:xfrm>
            <a:off x="8728478" y="2144579"/>
            <a:ext cx="301040" cy="487872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D614740E-0D93-9EAB-70E8-0928F79841B5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91" y="1716771"/>
            <a:ext cx="458727" cy="458727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28ACD310-83FB-5AED-BA5D-8355314018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841" t="27057" r="19257" b="66987"/>
          <a:stretch>
            <a:fillRect/>
          </a:stretch>
        </p:blipFill>
        <p:spPr>
          <a:xfrm>
            <a:off x="9281160" y="2387323"/>
            <a:ext cx="367665" cy="404561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379E110C-2176-7940-6EBD-5FBBE6EE14F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554" t="45762" r="18599" b="47523"/>
          <a:stretch>
            <a:fillRect/>
          </a:stretch>
        </p:blipFill>
        <p:spPr>
          <a:xfrm>
            <a:off x="9211223" y="3604589"/>
            <a:ext cx="539902" cy="50506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6E089023-5967-047C-4C85-21F8AB578CD3}"/>
              </a:ext>
            </a:extLst>
          </p:cNvPr>
          <p:cNvSpPr txBox="1"/>
          <p:nvPr/>
        </p:nvSpPr>
        <p:spPr>
          <a:xfrm>
            <a:off x="9798370" y="2341175"/>
            <a:ext cx="2022991" cy="1600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19" b="1">
                <a:solidFill>
                  <a:srgbClr val="001B4C"/>
                </a:solidFill>
                <a:latin typeface="Arial"/>
              </a:defRPr>
            </a:pPr>
            <a:r>
              <a:rPr sz="800">
                <a:solidFill>
                  <a:srgbClr val="0048BE"/>
                </a:solidFill>
              </a:rPr>
              <a:t>Strengthen Price Competitiveness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A2E0C31-3CCC-0284-B52E-5928FE6459DC}"/>
              </a:ext>
            </a:extLst>
          </p:cNvPr>
          <p:cNvSpPr txBox="1"/>
          <p:nvPr/>
        </p:nvSpPr>
        <p:spPr>
          <a:xfrm>
            <a:off x="9798370" y="2510484"/>
            <a:ext cx="1874519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Arial"/>
              </a:defRPr>
            </a:pPr>
            <a:r>
              <a:rPr sz="700"/>
              <a:t>Improve pricing power based on</a:t>
            </a:r>
            <a:br>
              <a:rPr sz="700"/>
            </a:br>
            <a:r>
              <a:rPr sz="700"/>
              <a:t>global production and cost efficiency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1E569F1-2F88-069E-8A1D-D061E5AE3635}"/>
              </a:ext>
            </a:extLst>
          </p:cNvPr>
          <p:cNvCxnSpPr>
            <a:cxnSpLocks/>
          </p:cNvCxnSpPr>
          <p:nvPr/>
        </p:nvCxnSpPr>
        <p:spPr>
          <a:xfrm>
            <a:off x="9127561" y="3482282"/>
            <a:ext cx="241820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>
            <a:extLst>
              <a:ext uri="{FF2B5EF4-FFF2-40B4-BE49-F238E27FC236}">
                <a16:creationId xmlns:a16="http://schemas.microsoft.com/office/drawing/2014/main" id="{4AF3FC8C-7DF8-A00D-7249-F1B9C34A229C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60" y="2998705"/>
            <a:ext cx="379005" cy="379005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E01DD23B-87DB-579C-C2BA-2D35B1364BFF}"/>
              </a:ext>
            </a:extLst>
          </p:cNvPr>
          <p:cNvSpPr txBox="1"/>
          <p:nvPr/>
        </p:nvSpPr>
        <p:spPr>
          <a:xfrm>
            <a:off x="9798370" y="2973488"/>
            <a:ext cx="1828800" cy="17838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19" b="1">
                <a:solidFill>
                  <a:srgbClr val="001B4C"/>
                </a:solidFill>
                <a:latin typeface="Arial"/>
              </a:defRPr>
            </a:pPr>
            <a:r>
              <a:rPr sz="900">
                <a:solidFill>
                  <a:srgbClr val="0048BE"/>
                </a:solidFill>
              </a:rPr>
              <a:t>Expand Global Market Share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C7F7F8B-863E-5665-E086-53AB6620781F}"/>
              </a:ext>
            </a:extLst>
          </p:cNvPr>
          <p:cNvSpPr txBox="1"/>
          <p:nvPr/>
        </p:nvSpPr>
        <p:spPr>
          <a:xfrm>
            <a:off x="9798370" y="3131961"/>
            <a:ext cx="1605916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Arial"/>
              </a:defRPr>
            </a:pPr>
            <a:r>
              <a:t>Strengthen brand presence and</a:t>
            </a:r>
            <a:br>
              <a:rPr/>
            </a:br>
            <a:r>
              <a:t>market share in key regions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B24A994-F76B-92B0-A6A5-8B70A45B5BE7}"/>
              </a:ext>
            </a:extLst>
          </p:cNvPr>
          <p:cNvSpPr txBox="1"/>
          <p:nvPr/>
        </p:nvSpPr>
        <p:spPr>
          <a:xfrm>
            <a:off x="9798370" y="3589900"/>
            <a:ext cx="1828800" cy="17838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919" b="1">
                <a:solidFill>
                  <a:srgbClr val="001B4C"/>
                </a:solidFill>
                <a:latin typeface="Arial"/>
              </a:defRPr>
            </a:pPr>
            <a:r>
              <a:rPr sz="900">
                <a:solidFill>
                  <a:srgbClr val="0048BE"/>
                </a:solidFill>
              </a:rPr>
              <a:t>Enhance Customer Trust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2838E91-D9BC-0F57-EA53-18D3252F214B}"/>
              </a:ext>
            </a:extLst>
          </p:cNvPr>
          <p:cNvSpPr txBox="1"/>
          <p:nvPr/>
        </p:nvSpPr>
        <p:spPr>
          <a:xfrm>
            <a:off x="9798370" y="3771636"/>
            <a:ext cx="1874519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Arial"/>
              </a:defRPr>
            </a:pPr>
            <a:r>
              <a:t>Strengthen reliability and trust</a:t>
            </a:r>
            <a:br>
              <a:rPr/>
            </a:br>
            <a:r>
              <a:t>through proven clinical value</a:t>
            </a:r>
          </a:p>
        </p:txBody>
      </p:sp>
      <p:sp>
        <p:nvSpPr>
          <p:cNvPr id="110" name="Oval 69">
            <a:extLst>
              <a:ext uri="{FF2B5EF4-FFF2-40B4-BE49-F238E27FC236}">
                <a16:creationId xmlns:a16="http://schemas.microsoft.com/office/drawing/2014/main" id="{9C372C8D-6189-AAA6-E398-8486A73067F2}"/>
              </a:ext>
            </a:extLst>
          </p:cNvPr>
          <p:cNvSpPr/>
          <p:nvPr/>
        </p:nvSpPr>
        <p:spPr>
          <a:xfrm>
            <a:off x="5849862" y="3720963"/>
            <a:ext cx="1172346" cy="1172346"/>
          </a:xfrm>
          <a:prstGeom prst="ellipse">
            <a:avLst/>
          </a:prstGeom>
          <a:solidFill>
            <a:srgbClr val="FFFFFF"/>
          </a:solidFill>
          <a:ln>
            <a:solidFill>
              <a:srgbClr val="1EA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FF2D515-BDAE-4FE6-A585-B8D63BAD672F}"/>
              </a:ext>
            </a:extLst>
          </p:cNvPr>
          <p:cNvSpPr txBox="1"/>
          <p:nvPr/>
        </p:nvSpPr>
        <p:spPr>
          <a:xfrm>
            <a:off x="5749074" y="4128901"/>
            <a:ext cx="1414392" cy="15234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869" b="1">
                <a:solidFill>
                  <a:srgbClr val="001B4C"/>
                </a:solidFill>
                <a:latin typeface="Arial"/>
              </a:defRPr>
            </a:pPr>
            <a:r>
              <a:rPr lang="en-US" altLang="ko-KR" sz="750">
                <a:solidFill>
                  <a:srgbClr val="0048BE"/>
                </a:solidFill>
              </a:rPr>
              <a:t>Paragon Care Network</a:t>
            </a:r>
            <a:endParaRPr sz="750">
              <a:solidFill>
                <a:srgbClr val="0048BE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28584E-2F72-5652-3C15-F36388CC54FF}"/>
              </a:ext>
            </a:extLst>
          </p:cNvPr>
          <p:cNvSpPr txBox="1"/>
          <p:nvPr/>
        </p:nvSpPr>
        <p:spPr>
          <a:xfrm>
            <a:off x="5929745" y="4293727"/>
            <a:ext cx="1060704" cy="4431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720" b="0">
                <a:solidFill>
                  <a:srgbClr val="1E1E1E"/>
                </a:solidFill>
                <a:latin typeface="Arial"/>
              </a:defRPr>
            </a:pPr>
            <a:r>
              <a:rPr sz="660"/>
              <a:t>Expand global</a:t>
            </a:r>
            <a:br>
              <a:rPr sz="660"/>
            </a:br>
            <a:r>
              <a:rPr sz="660"/>
              <a:t>presence in Australia</a:t>
            </a:r>
            <a:br>
              <a:rPr sz="660"/>
            </a:br>
            <a:r>
              <a:rPr sz="660"/>
              <a:t>and other key</a:t>
            </a:r>
            <a:br>
              <a:rPr sz="660"/>
            </a:br>
            <a:r>
              <a:rPr sz="660"/>
              <a:t>regions</a:t>
            </a:r>
          </a:p>
        </p:txBody>
      </p:sp>
      <p:sp>
        <p:nvSpPr>
          <p:cNvPr id="113" name="Oval 72">
            <a:extLst>
              <a:ext uri="{FF2B5EF4-FFF2-40B4-BE49-F238E27FC236}">
                <a16:creationId xmlns:a16="http://schemas.microsoft.com/office/drawing/2014/main" id="{B1EA7D5F-8114-7D1B-B1D3-C60DC12B985E}"/>
              </a:ext>
            </a:extLst>
          </p:cNvPr>
          <p:cNvSpPr/>
          <p:nvPr/>
        </p:nvSpPr>
        <p:spPr>
          <a:xfrm>
            <a:off x="7932876" y="3981863"/>
            <a:ext cx="1094338" cy="1094338"/>
          </a:xfrm>
          <a:prstGeom prst="ellipse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03881E3-64DD-725A-6CD8-6DD4718247F2}"/>
              </a:ext>
            </a:extLst>
          </p:cNvPr>
          <p:cNvSpPr txBox="1"/>
          <p:nvPr/>
        </p:nvSpPr>
        <p:spPr>
          <a:xfrm>
            <a:off x="7921096" y="4406001"/>
            <a:ext cx="1133856" cy="15234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869" b="1">
                <a:solidFill>
                  <a:srgbClr val="001B4C"/>
                </a:solidFill>
                <a:latin typeface="Arial"/>
              </a:defRPr>
            </a:pPr>
            <a:r>
              <a:rPr sz="750" err="1"/>
              <a:t>Lituo</a:t>
            </a:r>
            <a:r>
              <a:rPr sz="750"/>
              <a:t> Medical (China)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6682525-9AAA-6D2E-00C2-64AF46813F8B}"/>
              </a:ext>
            </a:extLst>
          </p:cNvPr>
          <p:cNvSpPr txBox="1"/>
          <p:nvPr/>
        </p:nvSpPr>
        <p:spPr>
          <a:xfrm>
            <a:off x="7961813" y="4527225"/>
            <a:ext cx="1060704" cy="4124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720" b="0">
                <a:solidFill>
                  <a:srgbClr val="1E1E1E"/>
                </a:solidFill>
                <a:latin typeface="Arial"/>
              </a:defRPr>
            </a:pPr>
            <a:r>
              <a:rPr sz="610"/>
              <a:t>Leverage </a:t>
            </a:r>
            <a:r>
              <a:rPr sz="610" err="1"/>
              <a:t>Lituo</a:t>
            </a:r>
            <a:br>
              <a:rPr sz="610"/>
            </a:br>
            <a:r>
              <a:rPr sz="610"/>
              <a:t>Medical's local</a:t>
            </a:r>
            <a:br>
              <a:rPr sz="610"/>
            </a:br>
            <a:r>
              <a:rPr sz="610"/>
              <a:t>network and</a:t>
            </a:r>
            <a:br>
              <a:rPr sz="610"/>
            </a:br>
            <a:r>
              <a:rPr sz="610"/>
              <a:t>distribution in China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4BF57A0-3EAE-66C7-5123-420E83F90565}"/>
              </a:ext>
            </a:extLst>
          </p:cNvPr>
          <p:cNvGrpSpPr/>
          <p:nvPr/>
        </p:nvGrpSpPr>
        <p:grpSpPr>
          <a:xfrm>
            <a:off x="2821737" y="3972947"/>
            <a:ext cx="1071812" cy="1071812"/>
            <a:chOff x="2942882" y="3679750"/>
            <a:chExt cx="1071812" cy="1071812"/>
          </a:xfrm>
        </p:grpSpPr>
        <p:sp>
          <p:nvSpPr>
            <p:cNvPr id="117" name="Oval 66">
              <a:extLst>
                <a:ext uri="{FF2B5EF4-FFF2-40B4-BE49-F238E27FC236}">
                  <a16:creationId xmlns:a16="http://schemas.microsoft.com/office/drawing/2014/main" id="{081F6A14-2B35-BC86-43EF-7B4CE35315FB}"/>
                </a:ext>
              </a:extLst>
            </p:cNvPr>
            <p:cNvSpPr/>
            <p:nvPr/>
          </p:nvSpPr>
          <p:spPr>
            <a:xfrm>
              <a:off x="2942882" y="3679750"/>
              <a:ext cx="1071812" cy="1071812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5B9B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09928E2-DC09-8BD9-5048-28631FE14E75}"/>
                </a:ext>
              </a:extLst>
            </p:cNvPr>
            <p:cNvSpPr txBox="1"/>
            <p:nvPr/>
          </p:nvSpPr>
          <p:spPr>
            <a:xfrm>
              <a:off x="3011956" y="4075158"/>
              <a:ext cx="996695" cy="170688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ctr">
                <a:defRPr sz="869" b="1">
                  <a:solidFill>
                    <a:srgbClr val="001B4C"/>
                  </a:solidFill>
                  <a:latin typeface="Arial"/>
                </a:defRPr>
              </a:pPr>
              <a:r>
                <a:rPr lang="en-US" altLang="ko-KR">
                  <a:solidFill>
                    <a:srgbClr val="0048BE"/>
                  </a:solidFill>
                </a:rPr>
                <a:t>Abbott Network</a:t>
              </a:r>
              <a:endParaRPr>
                <a:solidFill>
                  <a:srgbClr val="0048BE"/>
                </a:solidFill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9FE5B03-DC46-4E80-337B-9F8E89294575}"/>
                </a:ext>
              </a:extLst>
            </p:cNvPr>
            <p:cNvSpPr txBox="1"/>
            <p:nvPr/>
          </p:nvSpPr>
          <p:spPr>
            <a:xfrm>
              <a:off x="3054558" y="4207640"/>
              <a:ext cx="923544" cy="480131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ctr">
                <a:defRPr sz="720" b="0">
                  <a:solidFill>
                    <a:srgbClr val="1E1E1E"/>
                  </a:solidFill>
                  <a:latin typeface="Arial"/>
                </a:defRPr>
              </a:pPr>
              <a:r>
                <a:t>Leverage Abbott's</a:t>
              </a:r>
              <a:br>
                <a:rPr/>
              </a:br>
              <a:r>
                <a:t>network and</a:t>
              </a:r>
              <a:br>
                <a:rPr/>
              </a:br>
              <a:r>
                <a:t>sales strength</a:t>
              </a:r>
              <a:endParaRPr lang="en-US"/>
            </a:p>
            <a:p>
              <a:pPr algn="ctr">
                <a:defRPr sz="720" b="0">
                  <a:solidFill>
                    <a:srgbClr val="1E1E1E"/>
                  </a:solidFill>
                  <a:latin typeface="Arial"/>
                </a:defRPr>
              </a:pPr>
              <a:r>
                <a:rPr lang="en-US"/>
                <a:t>In the U.S.</a:t>
              </a:r>
              <a:endParaRPr/>
            </a:p>
          </p:txBody>
        </p:sp>
        <p:pic>
          <p:nvPicPr>
            <p:cNvPr id="120" name="그래픽 119">
              <a:extLst>
                <a:ext uri="{FF2B5EF4-FFF2-40B4-BE49-F238E27FC236}">
                  <a16:creationId xmlns:a16="http://schemas.microsoft.com/office/drawing/2014/main" id="{79662408-E12E-8B05-F989-6D0975E854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27710" y="3896610"/>
              <a:ext cx="693646" cy="177349"/>
            </a:xfrm>
            <a:prstGeom prst="rect">
              <a:avLst/>
            </a:prstGeom>
          </p:spPr>
        </p:pic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9CE7F274-0414-0B74-6F08-9CC7B4202C95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26" y="5381343"/>
            <a:ext cx="563735" cy="563735"/>
          </a:xfrm>
          <a:prstGeom prst="rect">
            <a:avLst/>
          </a:prstGeom>
        </p:spPr>
      </p:pic>
      <p:pic>
        <p:nvPicPr>
          <p:cNvPr id="122" name="그림 121">
            <a:extLst>
              <a:ext uri="{FF2B5EF4-FFF2-40B4-BE49-F238E27FC236}">
                <a16:creationId xmlns:a16="http://schemas.microsoft.com/office/drawing/2014/main" id="{0092025E-C158-C60E-4D0D-F33A7FB9A1B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14" t="81024" r="70083" b="10227"/>
          <a:stretch>
            <a:fillRect/>
          </a:stretch>
        </p:blipFill>
        <p:spPr>
          <a:xfrm>
            <a:off x="2874475" y="5412819"/>
            <a:ext cx="573029" cy="506721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D213B6FD-6452-9970-AA49-359C010A1D6D}"/>
              </a:ext>
            </a:extLst>
          </p:cNvPr>
          <p:cNvSpPr txBox="1"/>
          <p:nvPr/>
        </p:nvSpPr>
        <p:spPr>
          <a:xfrm>
            <a:off x="3456648" y="5654733"/>
            <a:ext cx="1121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Increase presence</a:t>
            </a:r>
            <a:b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in key regions</a:t>
            </a:r>
            <a:endParaRPr lang="ko-KR" altLang="en-US" sz="7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DC2239AA-5161-96D3-6B51-4DEB73DC9BE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535" t="81647" r="53056" b="10647"/>
          <a:stretch>
            <a:fillRect/>
          </a:stretch>
        </p:blipFill>
        <p:spPr>
          <a:xfrm>
            <a:off x="5055458" y="5392406"/>
            <a:ext cx="517567" cy="48475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7329DD61-A459-5015-5149-0BFE156FF0E2}"/>
              </a:ext>
            </a:extLst>
          </p:cNvPr>
          <p:cNvSpPr txBox="1"/>
          <p:nvPr/>
        </p:nvSpPr>
        <p:spPr>
          <a:xfrm>
            <a:off x="5815375" y="5366313"/>
            <a:ext cx="120402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60" b="0">
                <a:solidFill>
                  <a:srgbClr val="1E1E1E"/>
                </a:solidFill>
                <a:latin typeface="Arial"/>
              </a:defRPr>
            </a:pPr>
            <a:r>
              <a:rPr lang="en-US" sz="900" b="1">
                <a:solidFill>
                  <a:srgbClr val="0048BE"/>
                </a:solidFill>
              </a:rPr>
              <a:t>Increase</a:t>
            </a:r>
            <a:br>
              <a:rPr lang="en-US" sz="900" b="1">
                <a:solidFill>
                  <a:srgbClr val="0048BE"/>
                </a:solidFill>
              </a:rPr>
            </a:br>
            <a:r>
              <a:rPr lang="en-US" sz="900" b="1">
                <a:solidFill>
                  <a:srgbClr val="0048BE"/>
                </a:solidFill>
              </a:rPr>
              <a:t>Export Revenue</a:t>
            </a:r>
            <a:endParaRPr sz="9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D944EFC-8D0D-3320-B834-FDA0EE6A3443}"/>
              </a:ext>
            </a:extLst>
          </p:cNvPr>
          <p:cNvSpPr txBox="1"/>
          <p:nvPr/>
        </p:nvSpPr>
        <p:spPr>
          <a:xfrm>
            <a:off x="5754199" y="5647480"/>
            <a:ext cx="1121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Drive sustainable</a:t>
            </a:r>
            <a:b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revenue growth</a:t>
            </a:r>
          </a:p>
        </p:txBody>
      </p:sp>
      <p:pic>
        <p:nvPicPr>
          <p:cNvPr id="127" name="그림 126">
            <a:extLst>
              <a:ext uri="{FF2B5EF4-FFF2-40B4-BE49-F238E27FC236}">
                <a16:creationId xmlns:a16="http://schemas.microsoft.com/office/drawing/2014/main" id="{A76EB687-016E-BC34-35C2-D136A81316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129" t="81258" r="34956" b="9962"/>
          <a:stretch>
            <a:fillRect/>
          </a:stretch>
        </p:blipFill>
        <p:spPr>
          <a:xfrm>
            <a:off x="7183690" y="5367433"/>
            <a:ext cx="550575" cy="527091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8E2DA330-2ADA-4713-793E-0BE72957CAA9}"/>
              </a:ext>
            </a:extLst>
          </p:cNvPr>
          <p:cNvSpPr txBox="1"/>
          <p:nvPr/>
        </p:nvSpPr>
        <p:spPr>
          <a:xfrm>
            <a:off x="7909886" y="5353692"/>
            <a:ext cx="139181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60" b="0">
                <a:solidFill>
                  <a:srgbClr val="1E1E1E"/>
                </a:solidFill>
                <a:latin typeface="Arial"/>
              </a:defRPr>
            </a:pPr>
            <a:r>
              <a:rPr lang="en-US" sz="900" b="1">
                <a:solidFill>
                  <a:srgbClr val="0048BE"/>
                </a:solidFill>
              </a:rPr>
              <a:t>Enhance</a:t>
            </a:r>
            <a:br>
              <a:rPr lang="en-US" sz="900" b="1">
                <a:solidFill>
                  <a:srgbClr val="0048BE"/>
                </a:solidFill>
              </a:rPr>
            </a:br>
            <a:r>
              <a:rPr lang="en-US" sz="900" b="1">
                <a:solidFill>
                  <a:srgbClr val="0048BE"/>
                </a:solidFill>
              </a:rPr>
              <a:t>Price Competitiveness</a:t>
            </a:r>
            <a:endParaRPr sz="9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44B4A67-99A7-FEC4-B191-56702342E454}"/>
              </a:ext>
            </a:extLst>
          </p:cNvPr>
          <p:cNvSpPr txBox="1"/>
          <p:nvPr/>
        </p:nvSpPr>
        <p:spPr>
          <a:xfrm>
            <a:off x="7848710" y="5634859"/>
            <a:ext cx="1443842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Improve pricing power</a:t>
            </a:r>
            <a:b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through scale and efficiency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113431C-BCAA-1B82-915C-625F2017742D}"/>
              </a:ext>
            </a:extLst>
          </p:cNvPr>
          <p:cNvSpPr txBox="1"/>
          <p:nvPr/>
        </p:nvSpPr>
        <p:spPr>
          <a:xfrm>
            <a:off x="10198755" y="5373566"/>
            <a:ext cx="139181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860" b="0">
                <a:solidFill>
                  <a:srgbClr val="1E1E1E"/>
                </a:solidFill>
                <a:latin typeface="Arial"/>
              </a:defRPr>
            </a:pPr>
            <a:r>
              <a:rPr lang="en-US" sz="900" b="1">
                <a:solidFill>
                  <a:srgbClr val="0048BE"/>
                </a:solidFill>
              </a:rPr>
              <a:t>Increase Jobs and</a:t>
            </a:r>
            <a:br>
              <a:rPr lang="en-US" sz="900" b="1">
                <a:solidFill>
                  <a:srgbClr val="0048BE"/>
                </a:solidFill>
              </a:rPr>
            </a:br>
            <a:r>
              <a:rPr lang="en-US" sz="900" b="1">
                <a:solidFill>
                  <a:srgbClr val="0048BE"/>
                </a:solidFill>
              </a:rPr>
              <a:t>National Contribution</a:t>
            </a:r>
            <a:endParaRPr sz="9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EA751E5-A0A9-F5D3-6950-972CC635245D}"/>
              </a:ext>
            </a:extLst>
          </p:cNvPr>
          <p:cNvSpPr txBox="1"/>
          <p:nvPr/>
        </p:nvSpPr>
        <p:spPr>
          <a:xfrm>
            <a:off x="10137579" y="5654733"/>
            <a:ext cx="1443842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Strengthen economic</a:t>
            </a:r>
            <a:b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780">
                <a:latin typeface="Arial" panose="020B0604020202020204" pitchFamily="34" charset="0"/>
                <a:cs typeface="Arial" panose="020B0604020202020204" pitchFamily="34" charset="0"/>
              </a:rPr>
              <a:t>impact and job creation</a:t>
            </a:r>
          </a:p>
        </p:txBody>
      </p:sp>
      <p:pic>
        <p:nvPicPr>
          <p:cNvPr id="132" name="그림 131">
            <a:extLst>
              <a:ext uri="{FF2B5EF4-FFF2-40B4-BE49-F238E27FC236}">
                <a16:creationId xmlns:a16="http://schemas.microsoft.com/office/drawing/2014/main" id="{D2D8C43E-1BC9-5DE4-2773-97267FCA527B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104" y="5409562"/>
            <a:ext cx="512120" cy="512120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CA48BFF3-2AF6-5EE6-A7F4-8EE6FDB6F9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7" b="38993"/>
          <a:stretch>
            <a:fillRect/>
          </a:stretch>
        </p:blipFill>
        <p:spPr>
          <a:xfrm>
            <a:off x="6013945" y="3927162"/>
            <a:ext cx="906782" cy="186395"/>
          </a:xfrm>
          <a:prstGeom prst="rect">
            <a:avLst/>
          </a:prstGeom>
        </p:spPr>
      </p:pic>
      <p:pic>
        <p:nvPicPr>
          <p:cNvPr id="135" name="그래픽 134">
            <a:extLst>
              <a:ext uri="{FF2B5EF4-FFF2-40B4-BE49-F238E27FC236}">
                <a16:creationId xmlns:a16="http://schemas.microsoft.com/office/drawing/2014/main" id="{1584E3D8-DE1B-D53B-612A-5B9FC318B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7941" t="23861" r="56238" b="47445"/>
          <a:stretch>
            <a:fillRect/>
          </a:stretch>
        </p:blipFill>
        <p:spPr>
          <a:xfrm>
            <a:off x="987076" y="4441675"/>
            <a:ext cx="1741848" cy="752193"/>
          </a:xfrm>
          <a:prstGeom prst="rect">
            <a:avLst/>
          </a:prstGeom>
        </p:spPr>
      </p:pic>
      <p:pic>
        <p:nvPicPr>
          <p:cNvPr id="136" name="그림 135">
            <a:extLst>
              <a:ext uri="{FF2B5EF4-FFF2-40B4-BE49-F238E27FC236}">
                <a16:creationId xmlns:a16="http://schemas.microsoft.com/office/drawing/2014/main" id="{7F53FBD8-4442-348F-49FD-A36995156D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30" b="-1647"/>
          <a:stretch>
            <a:fillRect/>
          </a:stretch>
        </p:blipFill>
        <p:spPr>
          <a:xfrm>
            <a:off x="8360301" y="4104981"/>
            <a:ext cx="309466" cy="292697"/>
          </a:xfrm>
          <a:prstGeom prst="rect">
            <a:avLst/>
          </a:prstGeom>
        </p:spPr>
      </p:pic>
      <p:sp>
        <p:nvSpPr>
          <p:cNvPr id="137" name="자유형: 도형 136">
            <a:extLst>
              <a:ext uri="{FF2B5EF4-FFF2-40B4-BE49-F238E27FC236}">
                <a16:creationId xmlns:a16="http://schemas.microsoft.com/office/drawing/2014/main" id="{AD9C11D8-24CA-42B6-B40F-DBD3278F9F84}"/>
              </a:ext>
            </a:extLst>
          </p:cNvPr>
          <p:cNvSpPr/>
          <p:nvPr/>
        </p:nvSpPr>
        <p:spPr>
          <a:xfrm flipH="1">
            <a:off x="3906982" y="4522643"/>
            <a:ext cx="522514" cy="252374"/>
          </a:xfrm>
          <a:custGeom>
            <a:avLst/>
            <a:gdLst>
              <a:gd name="connsiteX0" fmla="*/ 522514 w 522514"/>
              <a:gd name="connsiteY0" fmla="*/ 0 h 252374"/>
              <a:gd name="connsiteX1" fmla="*/ 308758 w 522514"/>
              <a:gd name="connsiteY1" fmla="*/ 249382 h 252374"/>
              <a:gd name="connsiteX2" fmla="*/ 0 w 522514"/>
              <a:gd name="connsiteY2" fmla="*/ 130629 h 252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14" h="252374">
                <a:moveTo>
                  <a:pt x="522514" y="0"/>
                </a:moveTo>
                <a:cubicBezTo>
                  <a:pt x="459179" y="113805"/>
                  <a:pt x="395844" y="227611"/>
                  <a:pt x="308758" y="249382"/>
                </a:cubicBezTo>
                <a:cubicBezTo>
                  <a:pt x="221672" y="271154"/>
                  <a:pt x="75210" y="168234"/>
                  <a:pt x="0" y="130629"/>
                </a:cubicBezTo>
              </a:path>
            </a:pathLst>
          </a:custGeom>
          <a:noFill/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B9BD5"/>
                </a:gs>
              </a:gsLst>
              <a:lin ang="0" scaled="1"/>
              <a:tileRect/>
            </a:gra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자유형: 도형 137">
            <a:extLst>
              <a:ext uri="{FF2B5EF4-FFF2-40B4-BE49-F238E27FC236}">
                <a16:creationId xmlns:a16="http://schemas.microsoft.com/office/drawing/2014/main" id="{851FCE77-023C-3F4A-EB5C-761EB89E10DB}"/>
              </a:ext>
            </a:extLst>
          </p:cNvPr>
          <p:cNvSpPr/>
          <p:nvPr/>
        </p:nvSpPr>
        <p:spPr>
          <a:xfrm>
            <a:off x="5438775" y="4381500"/>
            <a:ext cx="2028825" cy="710024"/>
          </a:xfrm>
          <a:custGeom>
            <a:avLst/>
            <a:gdLst>
              <a:gd name="connsiteX0" fmla="*/ 0 w 2028825"/>
              <a:gd name="connsiteY0" fmla="*/ 647700 h 710024"/>
              <a:gd name="connsiteX1" fmla="*/ 1590675 w 2028825"/>
              <a:gd name="connsiteY1" fmla="*/ 647700 h 710024"/>
              <a:gd name="connsiteX2" fmla="*/ 2028825 w 2028825"/>
              <a:gd name="connsiteY2" fmla="*/ 0 h 71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8825" h="710024">
                <a:moveTo>
                  <a:pt x="0" y="647700"/>
                </a:moveTo>
                <a:cubicBezTo>
                  <a:pt x="626269" y="701675"/>
                  <a:pt x="1252538" y="755650"/>
                  <a:pt x="1590675" y="647700"/>
                </a:cubicBezTo>
                <a:cubicBezTo>
                  <a:pt x="1928812" y="539750"/>
                  <a:pt x="1962150" y="104775"/>
                  <a:pt x="2028825" y="0"/>
                </a:cubicBezTo>
              </a:path>
            </a:pathLst>
          </a:custGeom>
          <a:noFill/>
          <a:ln w="60325">
            <a:gradFill flip="none" rotWithShape="1">
              <a:gsLst>
                <a:gs pos="12000">
                  <a:srgbClr val="D04B4C"/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00000"/>
                </a:gs>
              </a:gsLst>
              <a:lin ang="16200000" scaled="1"/>
              <a:tileRect/>
            </a:gra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1D405CC7-D9AC-1EA6-7ECF-D91C2EB7BA64}"/>
              </a:ext>
            </a:extLst>
          </p:cNvPr>
          <p:cNvSpPr/>
          <p:nvPr/>
        </p:nvSpPr>
        <p:spPr>
          <a:xfrm>
            <a:off x="5457825" y="4543425"/>
            <a:ext cx="384175" cy="161925"/>
          </a:xfrm>
          <a:custGeom>
            <a:avLst/>
            <a:gdLst>
              <a:gd name="connsiteX0" fmla="*/ 0 w 384175"/>
              <a:gd name="connsiteY0" fmla="*/ 161925 h 161925"/>
              <a:gd name="connsiteX1" fmla="*/ 222250 w 384175"/>
              <a:gd name="connsiteY1" fmla="*/ 127000 h 161925"/>
              <a:gd name="connsiteX2" fmla="*/ 384175 w 384175"/>
              <a:gd name="connsiteY2" fmla="*/ 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175" h="161925">
                <a:moveTo>
                  <a:pt x="0" y="161925"/>
                </a:moveTo>
                <a:cubicBezTo>
                  <a:pt x="79110" y="157956"/>
                  <a:pt x="158221" y="153988"/>
                  <a:pt x="222250" y="127000"/>
                </a:cubicBezTo>
                <a:cubicBezTo>
                  <a:pt x="286279" y="100012"/>
                  <a:pt x="343958" y="17992"/>
                  <a:pt x="384175" y="0"/>
                </a:cubicBezTo>
              </a:path>
            </a:pathLst>
          </a:custGeom>
          <a:noFill/>
          <a:ln w="53975">
            <a:solidFill>
              <a:srgbClr val="1EA3C8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8673265C-26D3-FC7A-5AF3-DF819459EDDA}"/>
              </a:ext>
            </a:extLst>
          </p:cNvPr>
          <p:cNvGrpSpPr/>
          <p:nvPr/>
        </p:nvGrpSpPr>
        <p:grpSpPr>
          <a:xfrm>
            <a:off x="654642" y="4641947"/>
            <a:ext cx="2158689" cy="458402"/>
            <a:chOff x="270186" y="4451536"/>
            <a:chExt cx="2158689" cy="458402"/>
          </a:xfrm>
        </p:grpSpPr>
        <p:sp>
          <p:nvSpPr>
            <p:cNvPr id="141" name="Rounded Rectangle 17">
              <a:extLst>
                <a:ext uri="{FF2B5EF4-FFF2-40B4-BE49-F238E27FC236}">
                  <a16:creationId xmlns:a16="http://schemas.microsoft.com/office/drawing/2014/main" id="{5C342CA3-37AE-CACF-B933-B12E85B2D452}"/>
                </a:ext>
              </a:extLst>
            </p:cNvPr>
            <p:cNvSpPr/>
            <p:nvPr/>
          </p:nvSpPr>
          <p:spPr>
            <a:xfrm>
              <a:off x="321471" y="4503523"/>
              <a:ext cx="2107404" cy="327703"/>
            </a:xfrm>
            <a:prstGeom prst="roundRect">
              <a:avLst/>
            </a:prstGeom>
            <a:solidFill>
              <a:srgbClr val="F2F6FC"/>
            </a:solidFill>
            <a:ln w="12700">
              <a:solidFill>
                <a:srgbClr val="E4E7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E67C2436-1677-0834-F787-A8680F8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186" y="4451536"/>
              <a:ext cx="458402" cy="458402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C23C570D-E93B-B50E-2AEF-F219D1752595}"/>
                </a:ext>
              </a:extLst>
            </p:cNvPr>
            <p:cNvSpPr txBox="1"/>
            <p:nvPr/>
          </p:nvSpPr>
          <p:spPr>
            <a:xfrm>
              <a:off x="682836" y="4517974"/>
              <a:ext cx="1736513" cy="321627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>
                <a:defRPr sz="860" b="0">
                  <a:solidFill>
                    <a:srgbClr val="1E1E1E"/>
                  </a:solidFill>
                  <a:latin typeface="Arial"/>
                </a:defRPr>
              </a:pPr>
              <a:r>
                <a:rPr lang="en-US" sz="750" b="1">
                  <a:solidFill>
                    <a:srgbClr val="0048BE"/>
                  </a:solidFill>
                </a:rPr>
                <a:t>2026 U.S. Market Revenue Forecast</a:t>
              </a:r>
            </a:p>
            <a:p>
              <a:pPr>
                <a:defRPr sz="860" b="0">
                  <a:solidFill>
                    <a:srgbClr val="1E1E1E"/>
                  </a:solidFill>
                  <a:latin typeface="Arial"/>
                </a:defRPr>
              </a:pPr>
              <a:r>
                <a:rPr lang="en-US" sz="1100" b="1">
                  <a:solidFill>
                    <a:srgbClr val="0048BE"/>
                  </a:solidFill>
                </a:rPr>
                <a:t>$2 Million</a:t>
              </a:r>
              <a:endParaRPr sz="1100" b="1"/>
            </a:p>
          </p:txBody>
        </p:sp>
      </p:grpSp>
      <p:pic>
        <p:nvPicPr>
          <p:cNvPr id="146" name="그림 145">
            <a:extLst>
              <a:ext uri="{FF2B5EF4-FFF2-40B4-BE49-F238E27FC236}">
                <a16:creationId xmlns:a16="http://schemas.microsoft.com/office/drawing/2014/main" id="{E4A8D97A-40CF-E9C8-FA8B-34A539F5BF4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88" y="6180061"/>
            <a:ext cx="495300" cy="447675"/>
          </a:xfrm>
          <a:prstGeom prst="rect">
            <a:avLst/>
          </a:prstGeom>
        </p:spPr>
      </p:pic>
      <p:sp>
        <p:nvSpPr>
          <p:cNvPr id="3" name="s226">
            <a:extLst>
              <a:ext uri="{FF2B5EF4-FFF2-40B4-BE49-F238E27FC236}">
                <a16:creationId xmlns:a16="http://schemas.microsoft.com/office/drawing/2014/main" id="{BDA88F7F-5929-49E4-D205-CE811F3EC30F}"/>
              </a:ext>
            </a:extLst>
          </p:cNvPr>
          <p:cNvSpPr/>
          <p:nvPr/>
        </p:nvSpPr>
        <p:spPr>
          <a:xfrm>
            <a:off x="407258" y="6256862"/>
            <a:ext cx="11430000" cy="381000"/>
          </a:xfrm>
          <a:prstGeom prst="roundRect">
            <a:avLst/>
          </a:prstGeom>
          <a:solidFill>
            <a:srgbClr val="142554"/>
          </a:solidFill>
          <a:ln w="12700">
            <a:solidFill>
              <a:srgbClr val="142554"/>
            </a:solidFill>
          </a:ln>
        </p:spPr>
        <p:txBody>
          <a:bodyPr wrap="square" lIns="76200" tIns="25400" rIns="76200" bIns="25400" anchor="ctr">
            <a:normAutofit/>
          </a:bodyPr>
          <a:lstStyle/>
          <a:p>
            <a:pPr algn="ctr"/>
            <a:r>
              <a:rPr lang="en-US" sz="1200" b="1">
                <a:solidFill>
                  <a:srgbClr val="9DBCE0"/>
                </a:solidFill>
                <a:latin typeface="Arial"/>
              </a:rPr>
              <a:t>Global Network</a:t>
            </a:r>
            <a:r>
              <a:rPr lang="en-US" sz="1200" b="1">
                <a:solidFill>
                  <a:srgbClr val="FFFFFF"/>
                </a:solidFill>
                <a:latin typeface="Arial"/>
              </a:rPr>
              <a:t>  +  </a:t>
            </a:r>
            <a:r>
              <a:rPr lang="en-US" sz="1200" b="1">
                <a:solidFill>
                  <a:srgbClr val="9DBCE0"/>
                </a:solidFill>
                <a:latin typeface="Arial"/>
              </a:rPr>
              <a:t>Certifications</a:t>
            </a:r>
            <a:r>
              <a:rPr lang="en-US" sz="1200" b="1">
                <a:solidFill>
                  <a:srgbClr val="FFFFFF"/>
                </a:solidFill>
                <a:latin typeface="Arial"/>
              </a:rPr>
              <a:t>  +  </a:t>
            </a:r>
            <a:r>
              <a:rPr lang="en-US" sz="1200" b="1">
                <a:solidFill>
                  <a:srgbClr val="9DBCE0"/>
                </a:solidFill>
                <a:latin typeface="Arial"/>
              </a:rPr>
              <a:t>Product Competitiveness</a:t>
            </a:r>
            <a:r>
              <a:rPr lang="en-US" sz="1200" b="1">
                <a:solidFill>
                  <a:srgbClr val="FFFFFF"/>
                </a:solidFill>
                <a:latin typeface="Arial"/>
              </a:rPr>
              <a:t>   =   Sustainable Export Growth &amp; Long-Term Value</a:t>
            </a:r>
          </a:p>
        </p:txBody>
      </p:sp>
      <p:pic>
        <p:nvPicPr>
          <p:cNvPr id="11" name="Picture 10" descr="한국의 지도, 투명한 배경 위의 벡터 스톡 벡터(로열티 프리) 1019066926 | Shutterstock">
            <a:extLst>
              <a:ext uri="{FF2B5EF4-FFF2-40B4-BE49-F238E27FC236}">
                <a16:creationId xmlns:a16="http://schemas.microsoft.com/office/drawing/2014/main" id="{C7793DB6-99CC-6677-B4AB-3A9D86490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8214" b="90000" l="9846" r="89846">
                        <a14:foregroundMark x1="65231" y1="8214" x2="64923" y2="10714"/>
                        <a14:foregroundMark x1="44308" y1="85357" x2="44308" y2="85357"/>
                        <a14:foregroundMark x1="56923" y1="73214" x2="56923" y2="73214"/>
                        <a14:foregroundMark x1="43077" y1="76429" x2="43077" y2="76429"/>
                        <a14:foregroundMark x1="62769" y1="63929" x2="62769" y2="63929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034" t="4609" r="24674" b="10825"/>
          <a:stretch>
            <a:fillRect/>
          </a:stretch>
        </p:blipFill>
        <p:spPr bwMode="auto">
          <a:xfrm>
            <a:off x="9783651" y="31593"/>
            <a:ext cx="2069176" cy="318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타원 10">
            <a:extLst>
              <a:ext uri="{FF2B5EF4-FFF2-40B4-BE49-F238E27FC236}">
                <a16:creationId xmlns:a16="http://schemas.microsoft.com/office/drawing/2014/main" id="{179C66C0-4145-F4A4-D9A0-4646D95697CB}"/>
              </a:ext>
            </a:extLst>
          </p:cNvPr>
          <p:cNvSpPr/>
          <p:nvPr/>
        </p:nvSpPr>
        <p:spPr>
          <a:xfrm>
            <a:off x="9932370" y="629672"/>
            <a:ext cx="1691826" cy="1718785"/>
          </a:xfrm>
          <a:prstGeom prst="ellipse">
            <a:avLst/>
          </a:prstGeom>
          <a:gradFill flip="none" rotWithShape="1">
            <a:gsLst>
              <a:gs pos="100000">
                <a:srgbClr val="FDE6DB">
                  <a:alpha val="50000"/>
                </a:srgbClr>
              </a:gs>
              <a:gs pos="0">
                <a:sysClr val="window" lastClr="FFFFFF"/>
              </a:gs>
            </a:gsLst>
            <a:path path="circle">
              <a:fillToRect l="50000" t="50000" r="50000" b="50000"/>
            </a:path>
            <a:tileRect/>
          </a:gradFill>
          <a:ln w="28575" cap="flat" cmpd="sng" algn="ctr">
            <a:solidFill>
              <a:srgbClr val="FF7C80"/>
            </a:solidFill>
            <a:prstDash val="sysDot"/>
            <a:headEnd type="none" w="med" len="med"/>
            <a:tailEnd type="none" w="med" len="med"/>
          </a:ln>
          <a:effectLst/>
        </p:spPr>
        <p:txBody>
          <a:bodyPr lIns="0" r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endParaRPr lang="en-US" altLang="ko-KR" sz="1000" kern="0" dirty="0">
              <a:solidFill>
                <a:prstClr val="black"/>
              </a:solidFill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14" name="TextBox 50">
            <a:extLst>
              <a:ext uri="{FF2B5EF4-FFF2-40B4-BE49-F238E27FC236}">
                <a16:creationId xmlns:a16="http://schemas.microsoft.com/office/drawing/2014/main" id="{9CDAF23E-3AF8-056C-5390-DD1D9A6039FE}"/>
              </a:ext>
            </a:extLst>
          </p:cNvPr>
          <p:cNvSpPr txBox="1"/>
          <p:nvPr/>
        </p:nvSpPr>
        <p:spPr>
          <a:xfrm>
            <a:off x="9820175" y="1030680"/>
            <a:ext cx="1910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5 Medium" panose="020B0503030302020204" pitchFamily="34" charset="-127"/>
                <a:cs typeface="Arial" panose="020B0604020202020204" pitchFamily="34" charset="0"/>
              </a:rPr>
              <a:t>NaviNetics Asia </a:t>
            </a:r>
          </a:p>
          <a:p>
            <a:pPr algn="ctr" defTabSz="914378">
              <a:lnSpc>
                <a:spcPct val="50000"/>
              </a:lnSpc>
              <a:defRPr/>
            </a:pPr>
            <a:endParaRPr lang="en-US" altLang="ko-KR" sz="1200" kern="0" dirty="0">
              <a:solidFill>
                <a:prstClr val="black"/>
              </a:solidFill>
              <a:latin typeface="Arial" panose="020B0604020202020204" pitchFamily="34" charset="0"/>
              <a:ea typeface="에스코어 드림 5 Medium" panose="020B0503030302020204" pitchFamily="34" charset="-127"/>
              <a:cs typeface="Arial" panose="020B0604020202020204" pitchFamily="34" charset="0"/>
            </a:endParaRPr>
          </a:p>
          <a:p>
            <a:pPr algn="ctr" defTabSz="914378">
              <a:defRPr/>
            </a:pPr>
            <a:r>
              <a:rPr lang="en-US" altLang="ko-KR" sz="900" b="1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March 2026 Integration as</a:t>
            </a:r>
          </a:p>
          <a:p>
            <a:pPr algn="ctr" defTabSz="914378">
              <a:defRPr/>
            </a:pPr>
            <a:r>
              <a:rPr lang="en-US" altLang="ko-KR" sz="900" b="1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a Subsidiary(formerly CBH</a:t>
            </a:r>
            <a:r>
              <a:rPr lang="en-US" altLang="ko-KR" sz="900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" name="TextBox 51">
            <a:extLst>
              <a:ext uri="{FF2B5EF4-FFF2-40B4-BE49-F238E27FC236}">
                <a16:creationId xmlns:a16="http://schemas.microsoft.com/office/drawing/2014/main" id="{A3EE0B53-0CAA-B55F-23C8-DA805176BB3D}"/>
              </a:ext>
            </a:extLst>
          </p:cNvPr>
          <p:cNvSpPr txBox="1"/>
          <p:nvPr/>
        </p:nvSpPr>
        <p:spPr>
          <a:xfrm>
            <a:off x="9837429" y="1718147"/>
            <a:ext cx="1910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3 Light" panose="020B0303030302020204" pitchFamily="34" charset="-127"/>
                <a:cs typeface="Arial" panose="020B0604020202020204" pitchFamily="34" charset="0"/>
              </a:rPr>
              <a:t>Manufacturing · R&amp;D · </a:t>
            </a:r>
          </a:p>
          <a:p>
            <a:pPr algn="ctr" defTabSz="914378">
              <a:defRPr/>
            </a:pPr>
            <a:r>
              <a:rPr lang="en-US" altLang="ko-KR" sz="800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3 Light" panose="020B0303030302020204" pitchFamily="34" charset="-127"/>
                <a:cs typeface="Arial" panose="020B0604020202020204" pitchFamily="34" charset="0"/>
              </a:rPr>
              <a:t>Asia / Europe sales network</a:t>
            </a:r>
          </a:p>
        </p:txBody>
      </p:sp>
      <p:pic>
        <p:nvPicPr>
          <p:cNvPr id="16" name="그림 8195">
            <a:extLst>
              <a:ext uri="{FF2B5EF4-FFF2-40B4-BE49-F238E27FC236}">
                <a16:creationId xmlns:a16="http://schemas.microsoft.com/office/drawing/2014/main" id="{BF0E34F4-EDC5-07AA-BBE0-88AFE7E7305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081" y="729031"/>
            <a:ext cx="478807" cy="301649"/>
          </a:xfrm>
          <a:prstGeom prst="rect">
            <a:avLst/>
          </a:prstGeom>
        </p:spPr>
      </p:pic>
      <p:pic>
        <p:nvPicPr>
          <p:cNvPr id="17" name="그림 8197">
            <a:extLst>
              <a:ext uri="{FF2B5EF4-FFF2-40B4-BE49-F238E27FC236}">
                <a16:creationId xmlns:a16="http://schemas.microsoft.com/office/drawing/2014/main" id="{44BE8029-4C01-8B98-4452-22A8AFE7C4B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997" y="2758213"/>
            <a:ext cx="1115235" cy="247830"/>
          </a:xfrm>
          <a:prstGeom prst="rect">
            <a:avLst/>
          </a:prstGeom>
        </p:spPr>
      </p:pic>
      <p:sp>
        <p:nvSpPr>
          <p:cNvPr id="45" name="TextBox 8198">
            <a:extLst>
              <a:ext uri="{FF2B5EF4-FFF2-40B4-BE49-F238E27FC236}">
                <a16:creationId xmlns:a16="http://schemas.microsoft.com/office/drawing/2014/main" id="{FA523351-18CD-1DC3-A910-1EFC7E9B2F30}"/>
              </a:ext>
            </a:extLst>
          </p:cNvPr>
          <p:cNvSpPr txBox="1"/>
          <p:nvPr/>
        </p:nvSpPr>
        <p:spPr>
          <a:xfrm>
            <a:off x="9822348" y="2921795"/>
            <a:ext cx="19107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8">
              <a:defRPr/>
            </a:pPr>
            <a:r>
              <a:rPr lang="en-US" altLang="ko-KR" sz="900" b="1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Partner</a:t>
            </a:r>
            <a:r>
              <a:rPr lang="ko-KR" altLang="en-US" sz="900" b="1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 </a:t>
            </a:r>
            <a:r>
              <a:rPr lang="en-US" altLang="ko-KR" sz="900" b="1" kern="0" dirty="0">
                <a:solidFill>
                  <a:prstClr val="black"/>
                </a:solidFill>
                <a:latin typeface="Arial" panose="020B0604020202020204" pitchFamily="34" charset="0"/>
                <a:ea typeface="에스코어 드림 4 Regular" panose="020B0503030302020204" pitchFamily="34" charset="-127"/>
                <a:cs typeface="Arial" panose="020B0604020202020204" pitchFamily="34" charset="0"/>
              </a:rPr>
              <a:t>company</a:t>
            </a:r>
            <a:endParaRPr lang="en-US" altLang="ko-KR" sz="900" kern="0" dirty="0">
              <a:solidFill>
                <a:prstClr val="black"/>
              </a:solidFill>
              <a:latin typeface="Arial" panose="020B0604020202020204" pitchFamily="34" charset="0"/>
              <a:ea typeface="에스코어 드림 4 Regular" panose="020B0503030302020204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035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378</Words>
  <Application>Microsoft Office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Kulkarni Aditya</dc:creator>
  <cp:lastModifiedBy>Kulkarni Aditya</cp:lastModifiedBy>
  <cp:revision>2</cp:revision>
  <dcterms:created xsi:type="dcterms:W3CDTF">2026-08-02T19:19:13Z</dcterms:created>
  <dcterms:modified xsi:type="dcterms:W3CDTF">2026-08-02T19:26:31Z</dcterms:modified>
</cp:coreProperties>
</file>